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as a measurement audit and benchmark. We study whether a predictor's ranking metric matches the selector's budget and answer-quality objective. No production serving speedup is claimed.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separates full-cache offline prediction, a pinned masking loop, and a physical reference. Rows do not imply identical prompt cohorts or execution semantics. The physical reference has different mandatory blocks, budget rules and re-admission behavior. The figure was authored as editable draw.io cells and exported by draw.io.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128 LongBench QA prompts are collected for each model. Corrected collection aligns queries after RoPE, consumes the prefill-predicted token and generates real lookahead. There are 256 model-requests, not 256 independent source prompts. The source-prompt split holds out the same 32 prompts in both models. Raw traces and model weights are obtained separately.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refit logistic scorer has three parameters. LightGBM's 150 is a tree count. These are offline fixed-trace comparisons, not a measure of runtime F1. The logistic scorer is close to, but measurably below, LightGBM; this is not an equivalence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Same-decision pairs are 0.0016 percent of all positive-negative pairs, so pooled AUC is a cross-decision statistic. The binary cross-layer term raises pooled AUC by 0.017 and lowers within-decision AUC by 0.0025 and top-decile recall by 0.046; at 20 percent retention the recall gap shrinks. At the boundary the term promotes previous-layer-hot blocks that are positive 20 percent of the time, against 41 percent for the blocks they displace. This is a measurement of where the reversal comes from in the logistic scorer, not a causal claim about the downstream study.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(a) scales the fitted cross-layer offset from zero (the raw within-layer EMA) to twice its value on every held-out row: one eighth of the offset already gives 83 percent of the pooled AUC gain and 65 percent of the top-decile recall loss. Panel (b): the two-view logistic fit has ECE 0.006; unweighted and isotonic-recalibrated LightGBM have 0.005 and 0.003, so the class-balanced tree's poor calibration does not establish a family-level disadvantage. Relevance estimates, in nats, are in the paper text; a query proxy's relevance does not certify query redundancy.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rows use the frozen two-view checkpoint. A and B score the same full-cache rows with different feature realizations. C uses runtime features along its own policy trajectory, but its candidates are only the blocks retained now and at t+h, and its label denominator is taken among those survivors: a survivor-conditioned arm. An evicted block can never be missed there, so the 0.989 is not evidence that retention makes prediction easier, it does not isolate feedback, and it does not measure the coverage lost to eviction. These request-mean AUCs differ in corpus, aggregation and numerics from the historical 0.948-to-0.643 comparison.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runtime reconstruction, not the offline predictor. The two architectures answer the same source questions, so the 14 cells are not independent: the primary analysis averages the two models within each dataset and tests over the seven dataset means; the 14 cells are a sensitivity analysis. The two-point margin is a practical tolerance carried over from the archived analysis. It is not pre-registered and not a deployment threshold. The masked loop allows re-admission and does not release physical KV storage.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unrounded paired difference, not a difference of rounded table entries. The primary analysis tests over the seven dataset means (p=0.0023 at the two-point margin); the 14-cell analysis, which treats the cells as independent, is the sensitivity analysis. This is mean equivalence between two complete runtime policy realizations in these tasks (they also differ in EMA window and mandatory blocks), not equivalence for every task, no compression loss, a scorer-only intervention, or serving superiority. Allocation comparators are H2O-relative comparisons and not transitive equivalence claims.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are reconstructed-minus-H2O-style F1 differences within model–dataset cells, with 64 paired requests and 95 percent t intervals; the two models of a dataset are adjacent. The filled diamond is the primary seven-dataset estimate with its 90 percent t interval; the hollow diamond is the 14-cell sensitivity estimate. The shaded band is the two-point margin. Do not infer taskwise equivalence from either pooled estimate.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values refer to the H2O-style accumulator under matched irreversible eligibility. Llama uses bfloat16 and Qwen uses float32. Full prefill remains uncompressed. Short gates pass, but extended teacher-schedule tests exceed the numerical tolerance. Storage reduction is measured; exact long-run mask/physical equivalence and production throughput are not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old collector mixed pre-RoPE queries and post-RoPE cached keys, and its producer was unpinned. We withdraw the faithful-Quest reading. Corrected controls have opposite signs on the two models, so a pooled near-zero should not be read as intrinsic query redundancy. The synthetic needle result is a negative control. The tested cohort cannot support MoE, base-model, 32K-or-longer or sampled-decoding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reproducible measurement contribution. The artifact contains code, immutable experiment records, a pinned MIT-licensed simulator bundle, tests, editable draw.io source and Python chart sources. Model weights, raw traces and source datasets are obtained separately. The default benchmark entry (protocol 2.0) scores pooled and per-decision metrics from a prediction table, without traces or model weights; the shipped example is synthetic. Point readers to the repository and DOI recorded in CITATION.cff once the release is published. Do not call a pending DOI a completed archive.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315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109960" cy="640080"/>
          </a:xfrm>
          <a:prstGeom prst="rect">
            <a:avLst/>
          </a:prstGeom>
          <a:noFill/>
        </p:spPr>
        <p:txBody>
          <a:bodyPr wrap="square" lIns="22860" rIns="22860" tIns="22860" bIns="22860">
            <a:spAutoFit/>
          </a:bodyPr>
          <a:lstStyle/>
          <a:p>
            <a:pPr>
              <a:lnSpc>
                <a:spcPct val="112000"/>
              </a:lnSpc>
              <a:spcBef>
                <a:spcPts val="0"/>
              </a:spcBef>
              <a:spcAft>
                <a:spcPts val="1200"/>
              </a:spcAft>
            </a:pPr>
            <a:r>
              <a:rPr sz="3000" b="1">
                <a:solidFill>
                  <a:srgbClr val="202428"/>
                </a:solidFill>
                <a:latin typeface="Liberation Sans"/>
              </a:rPr>
              <a:t>Mining Attention Dynamics</a:t>
            </a:r>
          </a:p>
        </p:txBody>
      </p:sp>
      <p:sp>
        <p:nvSpPr>
          <p:cNvPr id="4" name="TextBox 3"/>
          <p:cNvSpPr txBox="1"/>
          <p:nvPr/>
        </p:nvSpPr>
        <p:spPr>
          <a:xfrm>
            <a:off x="530352" y="996696"/>
            <a:ext cx="11018520" cy="530352"/>
          </a:xfrm>
          <a:prstGeom prst="rect">
            <a:avLst/>
          </a:prstGeom>
          <a:noFill/>
        </p:spPr>
        <p:txBody>
          <a:bodyPr wrap="square" lIns="22860" rIns="22860" tIns="22860" bIns="22860">
            <a:spAutoFit/>
          </a:bodyPr>
          <a:lstStyle/>
          <a:p>
            <a:pPr>
              <a:lnSpc>
                <a:spcPct val="112000"/>
              </a:lnSpc>
              <a:spcBef>
                <a:spcPts val="0"/>
              </a:spcBef>
              <a:spcAft>
                <a:spcPts val="1200"/>
              </a:spcAft>
            </a:pPr>
            <a:r>
              <a:rPr sz="1700" b="0">
                <a:solidFill>
                  <a:srgbClr val="535F6B"/>
                </a:solidFill>
                <a:latin typeface="Liberation Sans"/>
              </a:rPr>
              <a:t>Auditing KV-Saliency Prediction in LLMs</a:t>
            </a:r>
          </a:p>
        </p:txBody>
      </p:sp>
      <p:sp>
        <p:nvSpPr>
          <p:cNvPr id="5" name="TextBox 4"/>
          <p:cNvSpPr txBox="1"/>
          <p:nvPr/>
        </p:nvSpPr>
        <p:spPr>
          <a:xfrm>
            <a:off x="530352" y="6190488"/>
            <a:ext cx="10789920" cy="32004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Camera-ready companion · version-2 main evidence</a:t>
            </a:r>
          </a:p>
        </p:txBody>
      </p:sp>
      <p:sp>
        <p:nvSpPr>
          <p:cNvPr id="6" name="TextBox 5"/>
          <p:cNvSpPr txBox="1"/>
          <p:nvPr/>
        </p:nvSpPr>
        <p:spPr>
          <a:xfrm>
            <a:off x="530352" y="6537960"/>
            <a:ext cx="10515600" cy="210312"/>
          </a:xfrm>
          <a:prstGeom prst="rect">
            <a:avLst/>
          </a:prstGeom>
          <a:noFill/>
        </p:spPr>
        <p:txBody>
          <a:bodyPr wrap="square" lIns="22860" rIns="22860" tIns="22860" bIns="22860">
            <a:spAutoFit/>
          </a:bodyPr>
          <a:lstStyle/>
          <a:p>
            <a:pPr>
              <a:lnSpc>
                <a:spcPct val="112000"/>
              </a:lnSpc>
              <a:spcBef>
                <a:spcPts val="0"/>
              </a:spcBef>
              <a:spcAft>
                <a:spcPts val="1200"/>
              </a:spcAft>
            </a:pPr>
            <a:r>
              <a:rPr sz="1000" b="0">
                <a:solidFill>
                  <a:srgbClr val="535F6B"/>
                </a:solidFill>
                <a:latin typeface="Liberation Sans"/>
              </a:rPr>
              <a:t>D2AI @ IEEE ICDM 2026  |  DM2158</a:t>
            </a:r>
          </a:p>
        </p:txBody>
      </p:sp>
      <p:sp>
        <p:nvSpPr>
          <p:cNvPr id="7" name="TextBox 6"/>
          <p:cNvSpPr txBox="1"/>
          <p:nvPr/>
        </p:nvSpPr>
        <p:spPr>
          <a:xfrm>
            <a:off x="11155680" y="6510528"/>
            <a:ext cx="548640" cy="27432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1</a:t>
            </a:r>
          </a:p>
        </p:txBody>
      </p:sp>
      <p:sp>
        <p:nvSpPr>
          <p:cNvPr id="8" name="TextBox 7"/>
          <p:cNvSpPr txBox="1"/>
          <p:nvPr/>
        </p:nvSpPr>
        <p:spPr>
          <a:xfrm>
            <a:off x="777240" y="1828800"/>
            <a:ext cx="10698480" cy="1737360"/>
          </a:xfrm>
          <a:prstGeom prst="rect">
            <a:avLst/>
          </a:prstGeom>
          <a:noFill/>
        </p:spPr>
        <p:txBody>
          <a:bodyPr wrap="square" lIns="22860" rIns="22860" tIns="22860" bIns="22860">
            <a:spAutoFit/>
          </a:bodyPr>
          <a:lstStyle/>
          <a:p>
            <a:pPr>
              <a:lnSpc>
                <a:spcPct val="112000"/>
              </a:lnSpc>
              <a:spcBef>
                <a:spcPts val="0"/>
              </a:spcBef>
              <a:spcAft>
                <a:spcPts val="1200"/>
              </a:spcAft>
            </a:pPr>
            <a:r>
              <a:rPr sz="3500" b="1">
                <a:solidFill>
                  <a:srgbClr val="315F82"/>
                </a:solidFill>
                <a:latin typeface="Liberation Sans"/>
              </a:rPr>
              <a:t>Evaluate the prediction under</a:t>
            </a:r>
          </a:p>
          <a:p>
            <a:pPr>
              <a:lnSpc>
                <a:spcPct val="112000"/>
              </a:lnSpc>
              <a:spcBef>
                <a:spcPts val="0"/>
              </a:spcBef>
              <a:spcAft>
                <a:spcPts val="1200"/>
              </a:spcAft>
            </a:pPr>
            <a:r>
              <a:rPr sz="3500" b="1">
                <a:solidFill>
                  <a:srgbClr val="315F82"/>
                </a:solidFill>
                <a:latin typeface="Liberation Sans"/>
              </a:rPr>
              <a:t>the decision that will use it.</a:t>
            </a:r>
          </a:p>
        </p:txBody>
      </p:sp>
      <p:sp>
        <p:nvSpPr>
          <p:cNvPr id="9" name="TextBox 8"/>
          <p:cNvSpPr txBox="1"/>
          <p:nvPr/>
        </p:nvSpPr>
        <p:spPr>
          <a:xfrm>
            <a:off x="795528" y="3840480"/>
            <a:ext cx="10515600" cy="548640"/>
          </a:xfrm>
          <a:prstGeom prst="rect">
            <a:avLst/>
          </a:prstGeom>
          <a:noFill/>
        </p:spPr>
        <p:txBody>
          <a:bodyPr wrap="square" lIns="22860" rIns="22860" tIns="22860" bIns="22860">
            <a:spAutoFit/>
          </a:bodyPr>
          <a:lstStyle/>
          <a:p>
            <a:pPr>
              <a:lnSpc>
                <a:spcPct val="112000"/>
              </a:lnSpc>
              <a:spcBef>
                <a:spcPts val="0"/>
              </a:spcBef>
              <a:spcAft>
                <a:spcPts val="1200"/>
              </a:spcAft>
            </a:pPr>
            <a:r>
              <a:rPr sz="2200" b="0">
                <a:solidFill>
                  <a:srgbClr val="202428"/>
                </a:solidFill>
                <a:latin typeface="Liberation Sans"/>
              </a:rPr>
              <a:t>Ziqing Li · Jiawei Guo · Kaicheng Tang · Jianxi Chen</a:t>
            </a:r>
          </a:p>
        </p:txBody>
      </p:sp>
      <p:sp>
        <p:nvSpPr>
          <p:cNvPr id="10" name="TextBox 9"/>
          <p:cNvSpPr txBox="1"/>
          <p:nvPr/>
        </p:nvSpPr>
        <p:spPr>
          <a:xfrm>
            <a:off x="795528" y="4507992"/>
            <a:ext cx="10607040" cy="502920"/>
          </a:xfrm>
          <a:prstGeom prst="rect">
            <a:avLst/>
          </a:prstGeom>
          <a:noFill/>
        </p:spPr>
        <p:txBody>
          <a:bodyPr wrap="square" lIns="22860" rIns="22860" tIns="22860" bIns="22860">
            <a:spAutoFit/>
          </a:bodyPr>
          <a:lstStyle/>
          <a:p>
            <a:pPr>
              <a:lnSpc>
                <a:spcPct val="112000"/>
              </a:lnSpc>
              <a:spcBef>
                <a:spcPts val="0"/>
              </a:spcBef>
              <a:spcAft>
                <a:spcPts val="1200"/>
              </a:spcAft>
            </a:pPr>
            <a:r>
              <a:rPr sz="1800" b="0">
                <a:solidFill>
                  <a:srgbClr val="535F6B"/>
                </a:solidFill>
                <a:latin typeface="Liberation Sans"/>
              </a:rPr>
              <a:t>HUST · Beihang University · The Chinese University of Hong Kong</a:t>
            </a:r>
          </a:p>
        </p:txBody>
      </p:sp>
      <p:sp>
        <p:nvSpPr>
          <p:cNvPr id="11" name="TextBox 10"/>
          <p:cNvSpPr txBox="1"/>
          <p:nvPr/>
        </p:nvSpPr>
        <p:spPr>
          <a:xfrm>
            <a:off x="795528" y="5166360"/>
            <a:ext cx="10424160" cy="457200"/>
          </a:xfrm>
          <a:prstGeom prst="rect">
            <a:avLst/>
          </a:prstGeom>
          <a:noFill/>
        </p:spPr>
        <p:txBody>
          <a:bodyPr wrap="square" lIns="22860" rIns="22860" tIns="22860" bIns="22860">
            <a:spAutoFit/>
          </a:bodyPr>
          <a:lstStyle/>
          <a:p>
            <a:pPr>
              <a:lnSpc>
                <a:spcPct val="112000"/>
              </a:lnSpc>
              <a:spcBef>
                <a:spcPts val="0"/>
              </a:spcBef>
              <a:spcAft>
                <a:spcPts val="1200"/>
              </a:spcAft>
            </a:pPr>
            <a:r>
              <a:rPr sz="1800" b="0">
                <a:solidFill>
                  <a:srgbClr val="535F6B"/>
                </a:solidFill>
                <a:latin typeface="Liberation Sans"/>
              </a:rPr>
              <a:t>Corresponding author: Jianxi Chen · chenjx@hust.edu.cn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315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109960" cy="640080"/>
          </a:xfrm>
          <a:prstGeom prst="rect">
            <a:avLst/>
          </a:prstGeom>
          <a:noFill/>
        </p:spPr>
        <p:txBody>
          <a:bodyPr wrap="square" lIns="22860" rIns="22860" tIns="22860" bIns="22860">
            <a:spAutoFit/>
          </a:bodyPr>
          <a:lstStyle/>
          <a:p>
            <a:pPr>
              <a:lnSpc>
                <a:spcPct val="112000"/>
              </a:lnSpc>
              <a:spcBef>
                <a:spcPts val="0"/>
              </a:spcBef>
              <a:spcAft>
                <a:spcPts val="1200"/>
              </a:spcAft>
            </a:pPr>
            <a:r>
              <a:rPr sz="3000" b="1">
                <a:solidFill>
                  <a:srgbClr val="202428"/>
                </a:solidFill>
                <a:latin typeface="Liberation Sans"/>
              </a:rPr>
              <a:t>Three paths, three evaluation objects</a:t>
            </a:r>
          </a:p>
        </p:txBody>
      </p:sp>
      <p:sp>
        <p:nvSpPr>
          <p:cNvPr id="4" name="TextBox 3"/>
          <p:cNvSpPr txBox="1"/>
          <p:nvPr/>
        </p:nvSpPr>
        <p:spPr>
          <a:xfrm>
            <a:off x="530352" y="996696"/>
            <a:ext cx="11018520" cy="530352"/>
          </a:xfrm>
          <a:prstGeom prst="rect">
            <a:avLst/>
          </a:prstGeom>
          <a:noFill/>
        </p:spPr>
        <p:txBody>
          <a:bodyPr wrap="square" lIns="22860" rIns="22860" tIns="22860" bIns="22860">
            <a:spAutoFit/>
          </a:bodyPr>
          <a:lstStyle/>
          <a:p>
            <a:pPr>
              <a:lnSpc>
                <a:spcPct val="112000"/>
              </a:lnSpc>
              <a:spcBef>
                <a:spcPts val="0"/>
              </a:spcBef>
              <a:spcAft>
                <a:spcPts val="1200"/>
              </a:spcAft>
            </a:pPr>
            <a:r>
              <a:rPr sz="1700" b="0">
                <a:solidFill>
                  <a:srgbClr val="535F6B"/>
                </a:solidFill>
                <a:latin typeface="Liberation Sans"/>
              </a:rPr>
              <a:t>Feature realization and selector semantics are explicit in the protocol.</a:t>
            </a:r>
          </a:p>
        </p:txBody>
      </p:sp>
      <p:sp>
        <p:nvSpPr>
          <p:cNvPr id="5" name="TextBox 4"/>
          <p:cNvSpPr txBox="1"/>
          <p:nvPr/>
        </p:nvSpPr>
        <p:spPr>
          <a:xfrm>
            <a:off x="530352" y="6190488"/>
            <a:ext cx="10789920" cy="32004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Paper §II and Table I · editable source: evaluation_paths.drawio</a:t>
            </a:r>
          </a:p>
        </p:txBody>
      </p:sp>
      <p:sp>
        <p:nvSpPr>
          <p:cNvPr id="6" name="TextBox 5"/>
          <p:cNvSpPr txBox="1"/>
          <p:nvPr/>
        </p:nvSpPr>
        <p:spPr>
          <a:xfrm>
            <a:off x="530352" y="6537960"/>
            <a:ext cx="10515600" cy="210312"/>
          </a:xfrm>
          <a:prstGeom prst="rect">
            <a:avLst/>
          </a:prstGeom>
          <a:noFill/>
        </p:spPr>
        <p:txBody>
          <a:bodyPr wrap="square" lIns="22860" rIns="22860" tIns="22860" bIns="22860">
            <a:spAutoFit/>
          </a:bodyPr>
          <a:lstStyle/>
          <a:p>
            <a:pPr>
              <a:lnSpc>
                <a:spcPct val="112000"/>
              </a:lnSpc>
              <a:spcBef>
                <a:spcPts val="0"/>
              </a:spcBef>
              <a:spcAft>
                <a:spcPts val="1200"/>
              </a:spcAft>
            </a:pPr>
            <a:r>
              <a:rPr sz="1000" b="0">
                <a:solidFill>
                  <a:srgbClr val="535F6B"/>
                </a:solidFill>
                <a:latin typeface="Liberation Sans"/>
              </a:rPr>
              <a:t>D2AI @ IEEE ICDM 2026  |  DM2158</a:t>
            </a:r>
          </a:p>
        </p:txBody>
      </p:sp>
      <p:sp>
        <p:nvSpPr>
          <p:cNvPr id="7" name="TextBox 6"/>
          <p:cNvSpPr txBox="1"/>
          <p:nvPr/>
        </p:nvSpPr>
        <p:spPr>
          <a:xfrm>
            <a:off x="11155680" y="6510528"/>
            <a:ext cx="548640" cy="27432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2</a:t>
            </a:r>
          </a:p>
        </p:txBody>
      </p:sp>
      <p:pic>
        <p:nvPicPr>
          <p:cNvPr id="8" name="Picture 7" descr="evaluation_paths.png"/>
          <p:cNvPicPr>
            <a:picLocks noChangeAspect="1"/>
          </p:cNvPicPr>
          <p:nvPr/>
        </p:nvPicPr>
        <p:blipFill>
          <a:blip r:embed="rId3"/>
          <a:stretch>
            <a:fillRect/>
          </a:stretch>
        </p:blipFill>
        <p:spPr>
          <a:xfrm>
            <a:off x="1871989" y="1673352"/>
            <a:ext cx="8417541" cy="3474720"/>
          </a:xfrm>
          <a:prstGeom prst="rect">
            <a:avLst/>
          </a:prstGeom>
        </p:spPr>
      </p:pic>
      <p:sp>
        <p:nvSpPr>
          <p:cNvPr id="9" name="Rectangle 8"/>
          <p:cNvSpPr/>
          <p:nvPr/>
        </p:nvSpPr>
        <p:spPr>
          <a:xfrm>
            <a:off x="548640" y="5321808"/>
            <a:ext cx="11064240" cy="71323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31536"/>
            <a:ext cx="10698480" cy="521207"/>
          </a:xfrm>
          <a:prstGeom prst="rect">
            <a:avLst/>
          </a:prstGeom>
          <a:noFill/>
        </p:spPr>
        <p:txBody>
          <a:bodyPr wrap="square" lIns="22860" rIns="22860" tIns="22860" bIns="22860">
            <a:spAutoFit/>
          </a:bodyPr>
          <a:lstStyle/>
          <a:p>
            <a:pPr>
              <a:lnSpc>
                <a:spcPct val="112000"/>
              </a:lnSpc>
              <a:spcBef>
                <a:spcPts val="0"/>
              </a:spcBef>
              <a:spcAft>
                <a:spcPts val="1200"/>
              </a:spcAft>
            </a:pPr>
            <a:r>
              <a:rPr sz="2100" b="1">
                <a:solidFill>
                  <a:srgbClr val="315F82"/>
                </a:solidFill>
                <a:latin typeface="Liberation Sans"/>
              </a:rPr>
              <a:t>Logical retention and physical KV storage require separate measurements.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315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109960" cy="640080"/>
          </a:xfrm>
          <a:prstGeom prst="rect">
            <a:avLst/>
          </a:prstGeom>
          <a:noFill/>
        </p:spPr>
        <p:txBody>
          <a:bodyPr wrap="square" lIns="22860" rIns="22860" tIns="22860" bIns="22860">
            <a:spAutoFit/>
          </a:bodyPr>
          <a:lstStyle/>
          <a:p>
            <a:pPr>
              <a:lnSpc>
                <a:spcPct val="112000"/>
              </a:lnSpc>
              <a:spcBef>
                <a:spcPts val="0"/>
              </a:spcBef>
              <a:spcAft>
                <a:spcPts val="1200"/>
              </a:spcAft>
            </a:pPr>
            <a:r>
              <a:rPr sz="3000" b="1">
                <a:solidFill>
                  <a:srgbClr val="202428"/>
                </a:solidFill>
                <a:latin typeface="Liberation Sans"/>
              </a:rPr>
              <a:t>Versioned data supports the offline comparison</a:t>
            </a:r>
          </a:p>
        </p:txBody>
      </p:sp>
      <p:sp>
        <p:nvSpPr>
          <p:cNvPr id="4" name="TextBox 3"/>
          <p:cNvSpPr txBox="1"/>
          <p:nvPr/>
        </p:nvSpPr>
        <p:spPr>
          <a:xfrm>
            <a:off x="530352" y="996696"/>
            <a:ext cx="11018520" cy="530352"/>
          </a:xfrm>
          <a:prstGeom prst="rect">
            <a:avLst/>
          </a:prstGeom>
          <a:noFill/>
        </p:spPr>
        <p:txBody>
          <a:bodyPr wrap="square" lIns="22860" rIns="22860" tIns="22860" bIns="22860">
            <a:spAutoFit/>
          </a:bodyPr>
          <a:lstStyle/>
          <a:p>
            <a:pPr>
              <a:lnSpc>
                <a:spcPct val="112000"/>
              </a:lnSpc>
              <a:spcBef>
                <a:spcPts val="0"/>
              </a:spcBef>
              <a:spcAft>
                <a:spcPts val="1200"/>
              </a:spcAft>
            </a:pPr>
            <a:r>
              <a:rPr sz="1700" b="0">
                <a:solidFill>
                  <a:srgbClr val="535F6B"/>
                </a:solidFill>
                <a:latin typeface="Liberation Sans"/>
              </a:rPr>
              <a:t>Main offline corpus: Llama-3.1-8B-Instruct and Qwen2.5-7B-Instruct</a:t>
            </a:r>
          </a:p>
        </p:txBody>
      </p:sp>
      <p:sp>
        <p:nvSpPr>
          <p:cNvPr id="5" name="TextBox 4"/>
          <p:cNvSpPr txBox="1"/>
          <p:nvPr/>
        </p:nvSpPr>
        <p:spPr>
          <a:xfrm>
            <a:off x="530352" y="6190488"/>
            <a:ext cx="10789920" cy="32004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Source: icdm_v2.json · paper §V-A</a:t>
            </a:r>
          </a:p>
        </p:txBody>
      </p:sp>
      <p:sp>
        <p:nvSpPr>
          <p:cNvPr id="6" name="TextBox 5"/>
          <p:cNvSpPr txBox="1"/>
          <p:nvPr/>
        </p:nvSpPr>
        <p:spPr>
          <a:xfrm>
            <a:off x="530352" y="6537960"/>
            <a:ext cx="10515600" cy="210312"/>
          </a:xfrm>
          <a:prstGeom prst="rect">
            <a:avLst/>
          </a:prstGeom>
          <a:noFill/>
        </p:spPr>
        <p:txBody>
          <a:bodyPr wrap="square" lIns="22860" rIns="22860" tIns="22860" bIns="22860">
            <a:spAutoFit/>
          </a:bodyPr>
          <a:lstStyle/>
          <a:p>
            <a:pPr>
              <a:lnSpc>
                <a:spcPct val="112000"/>
              </a:lnSpc>
              <a:spcBef>
                <a:spcPts val="0"/>
              </a:spcBef>
              <a:spcAft>
                <a:spcPts val="1200"/>
              </a:spcAft>
            </a:pPr>
            <a:r>
              <a:rPr sz="1000" b="0">
                <a:solidFill>
                  <a:srgbClr val="535F6B"/>
                </a:solidFill>
                <a:latin typeface="Liberation Sans"/>
              </a:rPr>
              <a:t>D2AI @ IEEE ICDM 2026  |  DM2158</a:t>
            </a:r>
          </a:p>
        </p:txBody>
      </p:sp>
      <p:sp>
        <p:nvSpPr>
          <p:cNvPr id="7" name="TextBox 6"/>
          <p:cNvSpPr txBox="1"/>
          <p:nvPr/>
        </p:nvSpPr>
        <p:spPr>
          <a:xfrm>
            <a:off x="11155680" y="6510528"/>
            <a:ext cx="548640" cy="27432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3</a:t>
            </a:r>
          </a:p>
        </p:txBody>
      </p:sp>
      <p:graphicFrame>
        <p:nvGraphicFramePr>
          <p:cNvPr id="8" name="Table 7"/>
          <p:cNvGraphicFramePr>
            <a:graphicFrameLocks noGrp="1"/>
          </p:cNvGraphicFramePr>
          <p:nvPr/>
        </p:nvGraphicFramePr>
        <p:xfrm>
          <a:off x="640080" y="1755648"/>
          <a:ext cx="10835640" cy="3511296"/>
        </p:xfrm>
        <a:graphic>
          <a:graphicData uri="http://schemas.openxmlformats.org/drawingml/2006/table">
            <a:tbl>
              <a:tblPr firstRow="1" bandRow="1">
                <a:tableStyleId>{5C22544A-7EE6-4342-B048-85BDC9FD1C3A}</a:tableStyleId>
              </a:tblPr>
              <a:tblGrid>
                <a:gridCol w="5029200"/>
                <a:gridCol w="5806440"/>
              </a:tblGrid>
              <a:tr h="585216">
                <a:tc>
                  <a:txBody>
                    <a:bodyPr/>
                    <a:lstStyle/>
                    <a:p>
                      <a:pPr algn="l"/>
                      <a:r>
                        <a:rPr sz="2100" b="1">
                          <a:solidFill>
                            <a:srgbClr val="FFFFFF"/>
                          </a:solidFill>
                          <a:latin typeface="Liberation Sans"/>
                        </a:rPr>
                        <a:t>Protocol component</a:t>
                      </a:r>
                    </a:p>
                  </a:txBody>
                  <a:tcPr marL="109728" marR="109728" marT="54864" marB="54864" anchor="ctr">
                    <a:solidFill>
                      <a:srgbClr val="315F82"/>
                    </a:solidFill>
                  </a:tcPr>
                </a:tc>
                <a:tc>
                  <a:txBody>
                    <a:bodyPr/>
                    <a:lstStyle/>
                    <a:p>
                      <a:pPr algn="ctr"/>
                      <a:r>
                        <a:rPr sz="2100" b="1">
                          <a:solidFill>
                            <a:srgbClr val="FFFFFF"/>
                          </a:solidFill>
                          <a:latin typeface="Liberation Sans"/>
                        </a:rPr>
                        <a:t>Version 2</a:t>
                      </a:r>
                    </a:p>
                  </a:txBody>
                  <a:tcPr marL="109728" marR="109728" marT="54864" marB="54864" anchor="ctr">
                    <a:solidFill>
                      <a:srgbClr val="315F82"/>
                    </a:solidFill>
                  </a:tcPr>
                </a:tc>
              </a:tr>
              <a:tr h="585216">
                <a:tc>
                  <a:txBody>
                    <a:bodyPr/>
                    <a:lstStyle/>
                    <a:p>
                      <a:pPr algn="l"/>
                      <a:r>
                        <a:rPr sz="2100" b="0">
                          <a:solidFill>
                            <a:srgbClr val="202428"/>
                          </a:solidFill>
                          <a:latin typeface="Liberation Sans"/>
                        </a:rPr>
                        <a:t>Labeled rows</a:t>
                      </a:r>
                    </a:p>
                  </a:txBody>
                  <a:tcPr marL="109728" marR="109728" marT="54864" marB="54864" anchor="ctr">
                    <a:solidFill>
                      <a:srgbClr val="EDF2F6"/>
                    </a:solidFill>
                  </a:tcPr>
                </a:tc>
                <a:tc>
                  <a:txBody>
                    <a:bodyPr/>
                    <a:lstStyle/>
                    <a:p>
                      <a:pPr algn="ctr"/>
                      <a:r>
                        <a:rPr sz="2100" b="0">
                          <a:solidFill>
                            <a:srgbClr val="202428"/>
                          </a:solidFill>
                          <a:latin typeface="Liberation Sans"/>
                        </a:rPr>
                        <a:t>30,445,332</a:t>
                      </a:r>
                    </a:p>
                  </a:txBody>
                  <a:tcPr marL="109728" marR="109728" marT="54864" marB="54864" anchor="ctr">
                    <a:solidFill>
                      <a:srgbClr val="EDF2F6"/>
                    </a:solidFill>
                  </a:tcPr>
                </a:tc>
              </a:tr>
              <a:tr h="585216">
                <a:tc>
                  <a:txBody>
                    <a:bodyPr/>
                    <a:lstStyle/>
                    <a:p>
                      <a:pPr algn="l"/>
                      <a:r>
                        <a:rPr sz="2100" b="0">
                          <a:solidFill>
                            <a:srgbClr val="202428"/>
                          </a:solidFill>
                          <a:latin typeface="Liberation Sans"/>
                        </a:rPr>
                        <a:t>Source prompts / model-requests</a:t>
                      </a:r>
                    </a:p>
                  </a:txBody>
                  <a:tcPr marL="109728" marR="109728" marT="54864" marB="54864" anchor="ctr">
                    <a:solidFill>
                      <a:srgbClr val="FFFFFF"/>
                    </a:solidFill>
                  </a:tcPr>
                </a:tc>
                <a:tc>
                  <a:txBody>
                    <a:bodyPr/>
                    <a:lstStyle/>
                    <a:p>
                      <a:pPr algn="ctr"/>
                      <a:r>
                        <a:rPr sz="2100" b="0">
                          <a:solidFill>
                            <a:srgbClr val="202428"/>
                          </a:solidFill>
                          <a:latin typeface="Liberation Sans"/>
                        </a:rPr>
                        <a:t>128 / 256</a:t>
                      </a:r>
                    </a:p>
                  </a:txBody>
                  <a:tcPr marL="109728" marR="109728" marT="54864" marB="54864" anchor="ctr">
                    <a:solidFill>
                      <a:srgbClr val="FFFFFF"/>
                    </a:solidFill>
                  </a:tcPr>
                </a:tc>
              </a:tr>
              <a:tr h="585216">
                <a:tc>
                  <a:txBody>
                    <a:bodyPr/>
                    <a:lstStyle/>
                    <a:p>
                      <a:pPr algn="l"/>
                      <a:r>
                        <a:rPr sz="2100" b="0">
                          <a:solidFill>
                            <a:srgbClr val="202428"/>
                          </a:solidFill>
                          <a:latin typeface="Liberation Sans"/>
                        </a:rPr>
                        <a:t>Training / held-out sampled rows</a:t>
                      </a:r>
                    </a:p>
                  </a:txBody>
                  <a:tcPr marL="109728" marR="109728" marT="54864" marB="54864" anchor="ctr">
                    <a:solidFill>
                      <a:srgbClr val="EDF2F6"/>
                    </a:solidFill>
                  </a:tcPr>
                </a:tc>
                <a:tc>
                  <a:txBody>
                    <a:bodyPr/>
                    <a:lstStyle/>
                    <a:p>
                      <a:pPr algn="ctr"/>
                      <a:r>
                        <a:rPr sz="2100" b="0">
                          <a:solidFill>
                            <a:srgbClr val="202428"/>
                          </a:solidFill>
                          <a:latin typeface="Liberation Sans"/>
                        </a:rPr>
                        <a:t>120,000 / 150,000</a:t>
                      </a:r>
                    </a:p>
                  </a:txBody>
                  <a:tcPr marL="109728" marR="109728" marT="54864" marB="54864" anchor="ctr">
                    <a:solidFill>
                      <a:srgbClr val="EDF2F6"/>
                    </a:solidFill>
                  </a:tcPr>
                </a:tc>
              </a:tr>
              <a:tr h="585216">
                <a:tc>
                  <a:txBody>
                    <a:bodyPr/>
                    <a:lstStyle/>
                    <a:p>
                      <a:pPr algn="l"/>
                      <a:r>
                        <a:rPr sz="2100" b="0">
                          <a:solidFill>
                            <a:srgbClr val="202428"/>
                          </a:solidFill>
                          <a:latin typeface="Liberation Sans"/>
                        </a:rPr>
                        <a:t>Additional split control</a:t>
                      </a:r>
                    </a:p>
                  </a:txBody>
                  <a:tcPr marL="109728" marR="109728" marT="54864" marB="54864" anchor="ctr">
                    <a:solidFill>
                      <a:srgbClr val="FFFFFF"/>
                    </a:solidFill>
                  </a:tcPr>
                </a:tc>
                <a:tc>
                  <a:txBody>
                    <a:bodyPr/>
                    <a:lstStyle/>
                    <a:p>
                      <a:pPr algn="ctr"/>
                      <a:r>
                        <a:rPr sz="2100" b="0">
                          <a:solidFill>
                            <a:srgbClr val="202428"/>
                          </a:solidFill>
                          <a:latin typeface="Liberation Sans"/>
                        </a:rPr>
                        <a:t>Source-prompt disjoint</a:t>
                      </a:r>
                    </a:p>
                  </a:txBody>
                  <a:tcPr marL="109728" marR="109728" marT="54864" marB="54864" anchor="ctr">
                    <a:solidFill>
                      <a:srgbClr val="FFFFFF"/>
                    </a:solidFill>
                  </a:tcPr>
                </a:tc>
              </a:tr>
              <a:tr h="585216">
                <a:tc>
                  <a:txBody>
                    <a:bodyPr/>
                    <a:lstStyle/>
                    <a:p>
                      <a:pPr algn="l"/>
                      <a:r>
                        <a:rPr sz="2100" b="0">
                          <a:solidFill>
                            <a:srgbClr val="202428"/>
                          </a:solidFill>
                          <a:latin typeface="Liberation Sans"/>
                        </a:rPr>
                        <a:t>Collector corrections</a:t>
                      </a:r>
                    </a:p>
                  </a:txBody>
                  <a:tcPr marL="109728" marR="109728" marT="54864" marB="54864" anchor="ctr">
                    <a:solidFill>
                      <a:srgbClr val="EDF2F6"/>
                    </a:solidFill>
                  </a:tcPr>
                </a:tc>
                <a:tc>
                  <a:txBody>
                    <a:bodyPr/>
                    <a:lstStyle/>
                    <a:p>
                      <a:pPr algn="ctr"/>
                      <a:r>
                        <a:rPr sz="2100" b="0">
                          <a:solidFill>
                            <a:srgbClr val="202428"/>
                          </a:solidFill>
                          <a:latin typeface="Liberation Sans"/>
                        </a:rPr>
                        <a:t>RoPE alignment; real lookahead</a:t>
                      </a:r>
                    </a:p>
                  </a:txBody>
                  <a:tcPr marL="109728" marR="109728" marT="54864" marB="54864" anchor="ctr">
                    <a:solidFill>
                      <a:srgbClr val="EDF2F6"/>
                    </a:solidFill>
                  </a:tcPr>
                </a:tc>
              </a:tr>
            </a:tbl>
          </a:graphicData>
        </a:graphic>
      </p:graphicFrame>
      <p:sp>
        <p:nvSpPr>
          <p:cNvPr id="9" name="Rectangle 8"/>
          <p:cNvSpPr/>
          <p:nvPr/>
        </p:nvSpPr>
        <p:spPr>
          <a:xfrm>
            <a:off x="548640" y="5321808"/>
            <a:ext cx="11064240" cy="71323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31536"/>
            <a:ext cx="10698480" cy="521207"/>
          </a:xfrm>
          <a:prstGeom prst="rect">
            <a:avLst/>
          </a:prstGeom>
          <a:noFill/>
        </p:spPr>
        <p:txBody>
          <a:bodyPr wrap="square" lIns="22860" rIns="22860" tIns="22860" bIns="22860">
            <a:spAutoFit/>
          </a:bodyPr>
          <a:lstStyle/>
          <a:p>
            <a:pPr>
              <a:lnSpc>
                <a:spcPct val="112000"/>
              </a:lnSpc>
              <a:spcBef>
                <a:spcPts val="0"/>
              </a:spcBef>
              <a:spcAft>
                <a:spcPts val="1200"/>
              </a:spcAft>
            </a:pPr>
            <a:r>
              <a:rPr sz="2200" b="1">
                <a:solidFill>
                  <a:srgbClr val="315F82"/>
                </a:solidFill>
                <a:latin typeface="Liberation Sans"/>
              </a:rPr>
              <a:t>Request and source-prompt units matter more than the row count.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315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109960" cy="640080"/>
          </a:xfrm>
          <a:prstGeom prst="rect">
            <a:avLst/>
          </a:prstGeom>
          <a:noFill/>
        </p:spPr>
        <p:txBody>
          <a:bodyPr wrap="square" lIns="22860" rIns="22860" tIns="22860" bIns="22860">
            <a:spAutoFit/>
          </a:bodyPr>
          <a:lstStyle/>
          <a:p>
            <a:pPr>
              <a:lnSpc>
                <a:spcPct val="112000"/>
              </a:lnSpc>
              <a:spcBef>
                <a:spcPts val="0"/>
              </a:spcBef>
              <a:spcAft>
                <a:spcPts val="1200"/>
              </a:spcAft>
            </a:pPr>
            <a:r>
              <a:rPr sz="3000" b="1">
                <a:solidFill>
                  <a:srgbClr val="202428"/>
                </a:solidFill>
                <a:latin typeface="Liberation Sans"/>
              </a:rPr>
              <a:t>Pooled AUC favors the learned predictors</a:t>
            </a:r>
          </a:p>
        </p:txBody>
      </p:sp>
      <p:sp>
        <p:nvSpPr>
          <p:cNvPr id="4" name="TextBox 3"/>
          <p:cNvSpPr txBox="1"/>
          <p:nvPr/>
        </p:nvSpPr>
        <p:spPr>
          <a:xfrm>
            <a:off x="530352" y="996696"/>
            <a:ext cx="11018520" cy="530352"/>
          </a:xfrm>
          <a:prstGeom prst="rect">
            <a:avLst/>
          </a:prstGeom>
          <a:noFill/>
        </p:spPr>
        <p:txBody>
          <a:bodyPr wrap="square" lIns="22860" rIns="22860" tIns="22860" bIns="22860">
            <a:spAutoFit/>
          </a:bodyPr>
          <a:lstStyle/>
          <a:p>
            <a:pPr>
              <a:lnSpc>
                <a:spcPct val="112000"/>
              </a:lnSpc>
              <a:spcBef>
                <a:spcPts val="0"/>
              </a:spcBef>
              <a:spcAft>
                <a:spcPts val="1200"/>
              </a:spcAft>
            </a:pPr>
            <a:r>
              <a:rPr sz="1700" b="0">
                <a:solidFill>
                  <a:srgbClr val="535F6B"/>
                </a:solidFill>
                <a:latin typeface="Liberation Sans"/>
              </a:rPr>
              <a:t>Two features and one intercept give a compact offline scorer.</a:t>
            </a:r>
          </a:p>
        </p:txBody>
      </p:sp>
      <p:sp>
        <p:nvSpPr>
          <p:cNvPr id="5" name="TextBox 4"/>
          <p:cNvSpPr txBox="1"/>
          <p:nvPr/>
        </p:nvSpPr>
        <p:spPr>
          <a:xfrm>
            <a:off x="530352" y="6190488"/>
            <a:ext cx="10789920" cy="32004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Source: icdm_v2.json / pooled_request_split.table · paper Table II</a:t>
            </a:r>
          </a:p>
        </p:txBody>
      </p:sp>
      <p:sp>
        <p:nvSpPr>
          <p:cNvPr id="6" name="TextBox 5"/>
          <p:cNvSpPr txBox="1"/>
          <p:nvPr/>
        </p:nvSpPr>
        <p:spPr>
          <a:xfrm>
            <a:off x="530352" y="6537960"/>
            <a:ext cx="10515600" cy="210312"/>
          </a:xfrm>
          <a:prstGeom prst="rect">
            <a:avLst/>
          </a:prstGeom>
          <a:noFill/>
        </p:spPr>
        <p:txBody>
          <a:bodyPr wrap="square" lIns="22860" rIns="22860" tIns="22860" bIns="22860">
            <a:spAutoFit/>
          </a:bodyPr>
          <a:lstStyle/>
          <a:p>
            <a:pPr>
              <a:lnSpc>
                <a:spcPct val="112000"/>
              </a:lnSpc>
              <a:spcBef>
                <a:spcPts val="0"/>
              </a:spcBef>
              <a:spcAft>
                <a:spcPts val="1200"/>
              </a:spcAft>
            </a:pPr>
            <a:r>
              <a:rPr sz="1000" b="0">
                <a:solidFill>
                  <a:srgbClr val="535F6B"/>
                </a:solidFill>
                <a:latin typeface="Liberation Sans"/>
              </a:rPr>
              <a:t>D2AI @ IEEE ICDM 2026  |  DM2158</a:t>
            </a:r>
          </a:p>
        </p:txBody>
      </p:sp>
      <p:sp>
        <p:nvSpPr>
          <p:cNvPr id="7" name="TextBox 6"/>
          <p:cNvSpPr txBox="1"/>
          <p:nvPr/>
        </p:nvSpPr>
        <p:spPr>
          <a:xfrm>
            <a:off x="11155680" y="6510528"/>
            <a:ext cx="548640" cy="27432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4</a:t>
            </a:r>
          </a:p>
        </p:txBody>
      </p:sp>
      <p:graphicFrame>
        <p:nvGraphicFramePr>
          <p:cNvPr id="8" name="Table 7"/>
          <p:cNvGraphicFramePr>
            <a:graphicFrameLocks noGrp="1"/>
          </p:cNvGraphicFramePr>
          <p:nvPr/>
        </p:nvGraphicFramePr>
        <p:xfrm>
          <a:off x="640080" y="1984248"/>
          <a:ext cx="10835640" cy="2999232"/>
        </p:xfrm>
        <a:graphic>
          <a:graphicData uri="http://schemas.openxmlformats.org/drawingml/2006/table">
            <a:tbl>
              <a:tblPr firstRow="1" bandRow="1">
                <a:tableStyleId>{5C22544A-7EE6-4342-B048-85BDC9FD1C3A}</a:tableStyleId>
              </a:tblPr>
              <a:tblGrid>
                <a:gridCol w="5669280"/>
                <a:gridCol w="2560320"/>
                <a:gridCol w="2606040"/>
              </a:tblGrid>
              <a:tr h="749808">
                <a:tc>
                  <a:txBody>
                    <a:bodyPr/>
                    <a:lstStyle/>
                    <a:p>
                      <a:pPr algn="l"/>
                      <a:r>
                        <a:rPr sz="2400" b="1">
                          <a:solidFill>
                            <a:srgbClr val="FFFFFF"/>
                          </a:solidFill>
                          <a:latin typeface="Liberation Sans"/>
                        </a:rPr>
                        <a:t>Offline score</a:t>
                      </a:r>
                    </a:p>
                  </a:txBody>
                  <a:tcPr marL="109728" marR="109728" marT="54864" marB="54864" anchor="ctr">
                    <a:solidFill>
                      <a:srgbClr val="315F82"/>
                    </a:solidFill>
                  </a:tcPr>
                </a:tc>
                <a:tc>
                  <a:txBody>
                    <a:bodyPr/>
                    <a:lstStyle/>
                    <a:p>
                      <a:pPr algn="ctr"/>
                      <a:r>
                        <a:rPr sz="2400" b="1">
                          <a:solidFill>
                            <a:srgbClr val="FFFFFF"/>
                          </a:solidFill>
                          <a:latin typeface="Liberation Sans"/>
                        </a:rPr>
                        <a:t>Pooled AUC</a:t>
                      </a:r>
                    </a:p>
                  </a:txBody>
                  <a:tcPr marL="109728" marR="109728" marT="54864" marB="54864" anchor="ctr">
                    <a:solidFill>
                      <a:srgbClr val="315F82"/>
                    </a:solidFill>
                  </a:tcPr>
                </a:tc>
                <a:tc>
                  <a:txBody>
                    <a:bodyPr/>
                    <a:lstStyle/>
                    <a:p>
                      <a:pPr algn="ctr"/>
                      <a:r>
                        <a:rPr sz="2400" b="1">
                          <a:solidFill>
                            <a:srgbClr val="FFFFFF"/>
                          </a:solidFill>
                          <a:latin typeface="Liberation Sans"/>
                        </a:rPr>
                        <a:t>Pooled AP</a:t>
                      </a:r>
                    </a:p>
                  </a:txBody>
                  <a:tcPr marL="109728" marR="109728" marT="54864" marB="54864" anchor="ctr">
                    <a:solidFill>
                      <a:srgbClr val="315F82"/>
                    </a:solidFill>
                  </a:tcPr>
                </a:tc>
              </a:tr>
              <a:tr h="749808">
                <a:tc>
                  <a:txBody>
                    <a:bodyPr/>
                    <a:lstStyle/>
                    <a:p>
                      <a:pPr algn="l"/>
                      <a:r>
                        <a:rPr sz="2400" b="0">
                          <a:solidFill>
                            <a:srgbClr val="202428"/>
                          </a:solidFill>
                          <a:latin typeface="Liberation Sans"/>
                        </a:rPr>
                        <a:t>Within-layer EMA</a:t>
                      </a:r>
                    </a:p>
                  </a:txBody>
                  <a:tcPr marL="109728" marR="109728" marT="54864" marB="54864" anchor="ctr">
                    <a:solidFill>
                      <a:srgbClr val="EDF2F6"/>
                    </a:solidFill>
                  </a:tcPr>
                </a:tc>
                <a:tc>
                  <a:txBody>
                    <a:bodyPr/>
                    <a:lstStyle/>
                    <a:p>
                      <a:pPr algn="ctr"/>
                      <a:r>
                        <a:rPr sz="2400" b="0">
                          <a:solidFill>
                            <a:srgbClr val="202428"/>
                          </a:solidFill>
                          <a:latin typeface="Liberation Sans"/>
                        </a:rPr>
                        <a:t>0.873</a:t>
                      </a:r>
                    </a:p>
                  </a:txBody>
                  <a:tcPr marL="109728" marR="109728" marT="54864" marB="54864" anchor="ctr">
                    <a:solidFill>
                      <a:srgbClr val="EDF2F6"/>
                    </a:solidFill>
                  </a:tcPr>
                </a:tc>
                <a:tc>
                  <a:txBody>
                    <a:bodyPr/>
                    <a:lstStyle/>
                    <a:p>
                      <a:pPr algn="ctr"/>
                      <a:r>
                        <a:rPr sz="2400" b="0">
                          <a:solidFill>
                            <a:srgbClr val="202428"/>
                          </a:solidFill>
                          <a:latin typeface="Liberation Sans"/>
                        </a:rPr>
                        <a:t>0.609</a:t>
                      </a:r>
                    </a:p>
                  </a:txBody>
                  <a:tcPr marL="109728" marR="109728" marT="54864" marB="54864" anchor="ctr">
                    <a:solidFill>
                      <a:srgbClr val="EDF2F6"/>
                    </a:solidFill>
                  </a:tcPr>
                </a:tc>
              </a:tr>
              <a:tr h="749808">
                <a:tc>
                  <a:txBody>
                    <a:bodyPr/>
                    <a:lstStyle/>
                    <a:p>
                      <a:pPr algn="l"/>
                      <a:r>
                        <a:rPr sz="2400" b="0">
                          <a:solidFill>
                            <a:srgbClr val="202428"/>
                          </a:solidFill>
                          <a:latin typeface="Liberation Sans"/>
                        </a:rPr>
                        <a:t>Two-view logistic</a:t>
                      </a:r>
                    </a:p>
                  </a:txBody>
                  <a:tcPr marL="109728" marR="109728" marT="54864" marB="54864" anchor="ctr">
                    <a:solidFill>
                      <a:srgbClr val="FFFFFF"/>
                    </a:solidFill>
                  </a:tcPr>
                </a:tc>
                <a:tc>
                  <a:txBody>
                    <a:bodyPr/>
                    <a:lstStyle/>
                    <a:p>
                      <a:pPr algn="ctr"/>
                      <a:r>
                        <a:rPr sz="2400" b="0">
                          <a:solidFill>
                            <a:srgbClr val="202428"/>
                          </a:solidFill>
                          <a:latin typeface="Liberation Sans"/>
                        </a:rPr>
                        <a:t>0.890</a:t>
                      </a:r>
                    </a:p>
                  </a:txBody>
                  <a:tcPr marL="109728" marR="109728" marT="54864" marB="54864" anchor="ctr">
                    <a:solidFill>
                      <a:srgbClr val="FFFFFF"/>
                    </a:solidFill>
                  </a:tcPr>
                </a:tc>
                <a:tc>
                  <a:txBody>
                    <a:bodyPr/>
                    <a:lstStyle/>
                    <a:p>
                      <a:pPr algn="ctr"/>
                      <a:r>
                        <a:rPr sz="2400" b="0">
                          <a:solidFill>
                            <a:srgbClr val="202428"/>
                          </a:solidFill>
                          <a:latin typeface="Liberation Sans"/>
                        </a:rPr>
                        <a:t>0.667</a:t>
                      </a:r>
                    </a:p>
                  </a:txBody>
                  <a:tcPr marL="109728" marR="109728" marT="54864" marB="54864" anchor="ctr">
                    <a:solidFill>
                      <a:srgbClr val="FFFFFF"/>
                    </a:solidFill>
                  </a:tcPr>
                </a:tc>
              </a:tr>
              <a:tr h="749808">
                <a:tc>
                  <a:txBody>
                    <a:bodyPr/>
                    <a:lstStyle/>
                    <a:p>
                      <a:pPr algn="l"/>
                      <a:r>
                        <a:rPr sz="2400" b="0">
                          <a:solidFill>
                            <a:srgbClr val="202428"/>
                          </a:solidFill>
                          <a:latin typeface="Liberation Sans"/>
                        </a:rPr>
                        <a:t>LightGBM, balanced</a:t>
                      </a:r>
                    </a:p>
                  </a:txBody>
                  <a:tcPr marL="109728" marR="109728" marT="54864" marB="54864" anchor="ctr">
                    <a:solidFill>
                      <a:srgbClr val="EDF2F6"/>
                    </a:solidFill>
                  </a:tcPr>
                </a:tc>
                <a:tc>
                  <a:txBody>
                    <a:bodyPr/>
                    <a:lstStyle/>
                    <a:p>
                      <a:pPr algn="ctr"/>
                      <a:r>
                        <a:rPr sz="2400" b="0">
                          <a:solidFill>
                            <a:srgbClr val="202428"/>
                          </a:solidFill>
                          <a:latin typeface="Liberation Sans"/>
                        </a:rPr>
                        <a:t>0.896</a:t>
                      </a:r>
                    </a:p>
                  </a:txBody>
                  <a:tcPr marL="109728" marR="109728" marT="54864" marB="54864" anchor="ctr">
                    <a:solidFill>
                      <a:srgbClr val="EDF2F6"/>
                    </a:solidFill>
                  </a:tcPr>
                </a:tc>
                <a:tc>
                  <a:txBody>
                    <a:bodyPr/>
                    <a:lstStyle/>
                    <a:p>
                      <a:pPr algn="ctr"/>
                      <a:r>
                        <a:rPr sz="2400" b="0">
                          <a:solidFill>
                            <a:srgbClr val="202428"/>
                          </a:solidFill>
                          <a:latin typeface="Liberation Sans"/>
                        </a:rPr>
                        <a:t>0.674</a:t>
                      </a:r>
                    </a:p>
                  </a:txBody>
                  <a:tcPr marL="109728" marR="109728" marT="54864" marB="54864" anchor="ctr">
                    <a:solidFill>
                      <a:srgbClr val="EDF2F6"/>
                    </a:solidFill>
                  </a:tcPr>
                </a:tc>
              </a:tr>
            </a:tbl>
          </a:graphicData>
        </a:graphic>
      </p:graphicFrame>
      <p:sp>
        <p:nvSpPr>
          <p:cNvPr id="9" name="Rectangle 8"/>
          <p:cNvSpPr/>
          <p:nvPr/>
        </p:nvSpPr>
        <p:spPr>
          <a:xfrm>
            <a:off x="548640" y="5321808"/>
            <a:ext cx="11064240" cy="71323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31536"/>
            <a:ext cx="10698480" cy="521207"/>
          </a:xfrm>
          <a:prstGeom prst="rect">
            <a:avLst/>
          </a:prstGeom>
          <a:noFill/>
        </p:spPr>
        <p:txBody>
          <a:bodyPr wrap="square" lIns="22860" rIns="22860" tIns="22860" bIns="22860">
            <a:spAutoFit/>
          </a:bodyPr>
          <a:lstStyle/>
          <a:p>
            <a:pPr>
              <a:lnSpc>
                <a:spcPct val="112000"/>
              </a:lnSpc>
              <a:spcBef>
                <a:spcPts val="0"/>
              </a:spcBef>
              <a:spcAft>
                <a:spcPts val="1200"/>
              </a:spcAft>
            </a:pPr>
            <a:r>
              <a:rPr sz="2100" b="1">
                <a:solidFill>
                  <a:srgbClr val="315F82"/>
                </a:solidFill>
                <a:latin typeface="Liberation Sans"/>
              </a:rPr>
              <a:t>A pooled ranking does not enforce a separate budget at every decision.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315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109960" cy="640080"/>
          </a:xfrm>
          <a:prstGeom prst="rect">
            <a:avLst/>
          </a:prstGeom>
          <a:noFill/>
        </p:spPr>
        <p:txBody>
          <a:bodyPr wrap="square" lIns="22860" rIns="22860" tIns="22860" bIns="22860">
            <a:spAutoFit/>
          </a:bodyPr>
          <a:lstStyle/>
          <a:p>
            <a:pPr>
              <a:lnSpc>
                <a:spcPct val="112000"/>
              </a:lnSpc>
              <a:spcBef>
                <a:spcPts val="0"/>
              </a:spcBef>
              <a:spcAft>
                <a:spcPts val="1200"/>
              </a:spcAft>
            </a:pPr>
            <a:r>
              <a:rPr sz="3000" b="1">
                <a:solidFill>
                  <a:srgbClr val="202428"/>
                </a:solidFill>
                <a:latin typeface="Liberation Sans"/>
              </a:rPr>
              <a:t>The ordering changes under a decision budget</a:t>
            </a:r>
          </a:p>
        </p:txBody>
      </p:sp>
      <p:sp>
        <p:nvSpPr>
          <p:cNvPr id="4" name="TextBox 3"/>
          <p:cNvSpPr txBox="1"/>
          <p:nvPr/>
        </p:nvSpPr>
        <p:spPr>
          <a:xfrm>
            <a:off x="530352" y="996696"/>
            <a:ext cx="11018520" cy="530352"/>
          </a:xfrm>
          <a:prstGeom prst="rect">
            <a:avLst/>
          </a:prstGeom>
          <a:noFill/>
        </p:spPr>
        <p:txBody>
          <a:bodyPr wrap="square" lIns="22860" rIns="22860" tIns="22860" bIns="22860">
            <a:spAutoFit/>
          </a:bodyPr>
          <a:lstStyle/>
          <a:p>
            <a:pPr>
              <a:lnSpc>
                <a:spcPct val="112000"/>
              </a:lnSpc>
              <a:spcBef>
                <a:spcPts val="0"/>
              </a:spcBef>
              <a:spcAft>
                <a:spcPts val="1200"/>
              </a:spcAft>
            </a:pPr>
            <a:r>
              <a:rPr sz="1700" b="0">
                <a:solidFill>
                  <a:srgbClr val="535F6B"/>
                </a:solidFill>
                <a:latin typeface="Liberation Sans"/>
              </a:rPr>
              <a:t>Pooled AUC is almost entirely cross-decision pairs; a selector uses the order inside each decision</a:t>
            </a:r>
          </a:p>
        </p:txBody>
      </p:sp>
      <p:sp>
        <p:nvSpPr>
          <p:cNvPr id="5" name="TextBox 4"/>
          <p:cNvSpPr txBox="1"/>
          <p:nvPr/>
        </p:nvSpPr>
        <p:spPr>
          <a:xfrm>
            <a:off x="530352" y="6190488"/>
            <a:ext cx="10789920" cy="32004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Source: icdm_v2_decomposition.json (every held-out row) · paper Table II, lower block</a:t>
            </a:r>
          </a:p>
        </p:txBody>
      </p:sp>
      <p:sp>
        <p:nvSpPr>
          <p:cNvPr id="6" name="TextBox 5"/>
          <p:cNvSpPr txBox="1"/>
          <p:nvPr/>
        </p:nvSpPr>
        <p:spPr>
          <a:xfrm>
            <a:off x="530352" y="6537960"/>
            <a:ext cx="10515600" cy="210312"/>
          </a:xfrm>
          <a:prstGeom prst="rect">
            <a:avLst/>
          </a:prstGeom>
          <a:noFill/>
        </p:spPr>
        <p:txBody>
          <a:bodyPr wrap="square" lIns="22860" rIns="22860" tIns="22860" bIns="22860">
            <a:spAutoFit/>
          </a:bodyPr>
          <a:lstStyle/>
          <a:p>
            <a:pPr>
              <a:lnSpc>
                <a:spcPct val="112000"/>
              </a:lnSpc>
              <a:spcBef>
                <a:spcPts val="0"/>
              </a:spcBef>
              <a:spcAft>
                <a:spcPts val="1200"/>
              </a:spcAft>
            </a:pPr>
            <a:r>
              <a:rPr sz="1000" b="0">
                <a:solidFill>
                  <a:srgbClr val="535F6B"/>
                </a:solidFill>
                <a:latin typeface="Liberation Sans"/>
              </a:rPr>
              <a:t>D2AI @ IEEE ICDM 2026  |  DM2158</a:t>
            </a:r>
          </a:p>
        </p:txBody>
      </p:sp>
      <p:sp>
        <p:nvSpPr>
          <p:cNvPr id="7" name="TextBox 6"/>
          <p:cNvSpPr txBox="1"/>
          <p:nvPr/>
        </p:nvSpPr>
        <p:spPr>
          <a:xfrm>
            <a:off x="11155680" y="6510528"/>
            <a:ext cx="548640" cy="27432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5</a:t>
            </a:r>
          </a:p>
        </p:txBody>
      </p:sp>
      <p:graphicFrame>
        <p:nvGraphicFramePr>
          <p:cNvPr id="8" name="Table 7"/>
          <p:cNvGraphicFramePr>
            <a:graphicFrameLocks noGrp="1"/>
          </p:cNvGraphicFramePr>
          <p:nvPr/>
        </p:nvGraphicFramePr>
        <p:xfrm>
          <a:off x="640080" y="1984248"/>
          <a:ext cx="10835640" cy="2999232"/>
        </p:xfrm>
        <a:graphic>
          <a:graphicData uri="http://schemas.openxmlformats.org/drawingml/2006/table">
            <a:tbl>
              <a:tblPr firstRow="1" bandRow="1">
                <a:tableStyleId>{5C22544A-7EE6-4342-B048-85BDC9FD1C3A}</a:tableStyleId>
              </a:tblPr>
              <a:tblGrid>
                <a:gridCol w="4114800"/>
                <a:gridCol w="2103120"/>
                <a:gridCol w="2697480"/>
                <a:gridCol w="1920240"/>
              </a:tblGrid>
              <a:tr h="749808">
                <a:tc>
                  <a:txBody>
                    <a:bodyPr/>
                    <a:lstStyle/>
                    <a:p>
                      <a:pPr algn="l"/>
                      <a:r>
                        <a:rPr sz="2200" b="1">
                          <a:solidFill>
                            <a:srgbClr val="FFFFFF"/>
                          </a:solidFill>
                          <a:latin typeface="Liberation Sans"/>
                        </a:rPr>
                        <a:t>Offline score</a:t>
                      </a:r>
                    </a:p>
                  </a:txBody>
                  <a:tcPr marL="109728" marR="109728" marT="54864" marB="54864" anchor="ctr">
                    <a:solidFill>
                      <a:srgbClr val="315F82"/>
                    </a:solidFill>
                  </a:tcPr>
                </a:tc>
                <a:tc>
                  <a:txBody>
                    <a:bodyPr/>
                    <a:lstStyle/>
                    <a:p>
                      <a:pPr algn="ctr"/>
                      <a:r>
                        <a:rPr sz="2200" b="1">
                          <a:solidFill>
                            <a:srgbClr val="FFFFFF"/>
                          </a:solidFill>
                          <a:latin typeface="Liberation Sans"/>
                        </a:rPr>
                        <a:t>Pooled AUC</a:t>
                      </a:r>
                    </a:p>
                  </a:txBody>
                  <a:tcPr marL="109728" marR="109728" marT="54864" marB="54864" anchor="ctr">
                    <a:solidFill>
                      <a:srgbClr val="315F82"/>
                    </a:solidFill>
                  </a:tcPr>
                </a:tc>
                <a:tc>
                  <a:txBody>
                    <a:bodyPr/>
                    <a:lstStyle/>
                    <a:p>
                      <a:pPr algn="ctr"/>
                      <a:r>
                        <a:rPr sz="2200" b="1">
                          <a:solidFill>
                            <a:srgbClr val="FFFFFF"/>
                          </a:solidFill>
                          <a:latin typeface="Liberation Sans"/>
                        </a:rPr>
                        <a:t>Within-decision AUC</a:t>
                      </a:r>
                    </a:p>
                  </a:txBody>
                  <a:tcPr marL="109728" marR="109728" marT="54864" marB="54864" anchor="ctr">
                    <a:solidFill>
                      <a:srgbClr val="315F82"/>
                    </a:solidFill>
                  </a:tcPr>
                </a:tc>
                <a:tc>
                  <a:txBody>
                    <a:bodyPr/>
                    <a:lstStyle/>
                    <a:p>
                      <a:pPr algn="ctr"/>
                      <a:r>
                        <a:rPr sz="2200" b="1">
                          <a:solidFill>
                            <a:srgbClr val="FFFFFF"/>
                          </a:solidFill>
                          <a:latin typeface="Liberation Sans"/>
                        </a:rPr>
                        <a:t>Top-decile recall</a:t>
                      </a:r>
                    </a:p>
                  </a:txBody>
                  <a:tcPr marL="109728" marR="109728" marT="54864" marB="54864" anchor="ctr">
                    <a:solidFill>
                      <a:srgbClr val="315F82"/>
                    </a:solidFill>
                  </a:tcPr>
                </a:tc>
              </a:tr>
              <a:tr h="749808">
                <a:tc>
                  <a:txBody>
                    <a:bodyPr/>
                    <a:lstStyle/>
                    <a:p>
                      <a:pPr algn="l"/>
                      <a:r>
                        <a:rPr sz="2200" b="0">
                          <a:solidFill>
                            <a:srgbClr val="202428"/>
                          </a:solidFill>
                          <a:latin typeface="Liberation Sans"/>
                        </a:rPr>
                        <a:t>Within-layer EMA</a:t>
                      </a:r>
                    </a:p>
                  </a:txBody>
                  <a:tcPr marL="109728" marR="109728" marT="54864" marB="54864" anchor="ctr">
                    <a:solidFill>
                      <a:srgbClr val="EDF2F6"/>
                    </a:solidFill>
                  </a:tcPr>
                </a:tc>
                <a:tc>
                  <a:txBody>
                    <a:bodyPr/>
                    <a:lstStyle/>
                    <a:p>
                      <a:pPr algn="ctr"/>
                      <a:r>
                        <a:rPr sz="2200" b="0">
                          <a:solidFill>
                            <a:srgbClr val="202428"/>
                          </a:solidFill>
                          <a:latin typeface="Liberation Sans"/>
                        </a:rPr>
                        <a:t>0.873</a:t>
                      </a:r>
                    </a:p>
                  </a:txBody>
                  <a:tcPr marL="109728" marR="109728" marT="54864" marB="54864" anchor="ctr">
                    <a:solidFill>
                      <a:srgbClr val="EDF2F6"/>
                    </a:solidFill>
                  </a:tcPr>
                </a:tc>
                <a:tc>
                  <a:txBody>
                    <a:bodyPr/>
                    <a:lstStyle/>
                    <a:p>
                      <a:pPr algn="ctr"/>
                      <a:r>
                        <a:rPr sz="2200" b="0">
                          <a:solidFill>
                            <a:srgbClr val="202428"/>
                          </a:solidFill>
                          <a:latin typeface="Liberation Sans"/>
                        </a:rPr>
                        <a:t>0.930</a:t>
                      </a:r>
                    </a:p>
                  </a:txBody>
                  <a:tcPr marL="109728" marR="109728" marT="54864" marB="54864" anchor="ctr">
                    <a:solidFill>
                      <a:srgbClr val="EDF2F6"/>
                    </a:solidFill>
                  </a:tcPr>
                </a:tc>
                <a:tc>
                  <a:txBody>
                    <a:bodyPr/>
                    <a:lstStyle/>
                    <a:p>
                      <a:pPr algn="ctr"/>
                      <a:r>
                        <a:rPr sz="2200" b="0">
                          <a:solidFill>
                            <a:srgbClr val="202428"/>
                          </a:solidFill>
                          <a:latin typeface="Liberation Sans"/>
                        </a:rPr>
                        <a:t>0.659</a:t>
                      </a:r>
                    </a:p>
                  </a:txBody>
                  <a:tcPr marL="109728" marR="109728" marT="54864" marB="54864" anchor="ctr">
                    <a:solidFill>
                      <a:srgbClr val="EDF2F6"/>
                    </a:solidFill>
                  </a:tcPr>
                </a:tc>
              </a:tr>
              <a:tr h="749808">
                <a:tc>
                  <a:txBody>
                    <a:bodyPr/>
                    <a:lstStyle/>
                    <a:p>
                      <a:pPr algn="l"/>
                      <a:r>
                        <a:rPr sz="2200" b="0">
                          <a:solidFill>
                            <a:srgbClr val="202428"/>
                          </a:solidFill>
                          <a:latin typeface="Liberation Sans"/>
                        </a:rPr>
                        <a:t>Two-view logistic</a:t>
                      </a:r>
                    </a:p>
                  </a:txBody>
                  <a:tcPr marL="109728" marR="109728" marT="54864" marB="54864" anchor="ctr">
                    <a:solidFill>
                      <a:srgbClr val="FFFFFF"/>
                    </a:solidFill>
                  </a:tcPr>
                </a:tc>
                <a:tc>
                  <a:txBody>
                    <a:bodyPr/>
                    <a:lstStyle/>
                    <a:p>
                      <a:pPr algn="ctr"/>
                      <a:r>
                        <a:rPr sz="2200" b="0">
                          <a:solidFill>
                            <a:srgbClr val="202428"/>
                          </a:solidFill>
                          <a:latin typeface="Liberation Sans"/>
                        </a:rPr>
                        <a:t>0.890</a:t>
                      </a:r>
                    </a:p>
                  </a:txBody>
                  <a:tcPr marL="109728" marR="109728" marT="54864" marB="54864" anchor="ctr">
                    <a:solidFill>
                      <a:srgbClr val="FFFFFF"/>
                    </a:solidFill>
                  </a:tcPr>
                </a:tc>
                <a:tc>
                  <a:txBody>
                    <a:bodyPr/>
                    <a:lstStyle/>
                    <a:p>
                      <a:pPr algn="ctr"/>
                      <a:r>
                        <a:rPr sz="2200" b="0">
                          <a:solidFill>
                            <a:srgbClr val="202428"/>
                          </a:solidFill>
                          <a:latin typeface="Liberation Sans"/>
                        </a:rPr>
                        <a:t>0.928</a:t>
                      </a:r>
                    </a:p>
                  </a:txBody>
                  <a:tcPr marL="109728" marR="109728" marT="54864" marB="54864" anchor="ctr">
                    <a:solidFill>
                      <a:srgbClr val="FFFFFF"/>
                    </a:solidFill>
                  </a:tcPr>
                </a:tc>
                <a:tc>
                  <a:txBody>
                    <a:bodyPr/>
                    <a:lstStyle/>
                    <a:p>
                      <a:pPr algn="ctr"/>
                      <a:r>
                        <a:rPr sz="2200" b="0">
                          <a:solidFill>
                            <a:srgbClr val="202428"/>
                          </a:solidFill>
                          <a:latin typeface="Liberation Sans"/>
                        </a:rPr>
                        <a:t>0.613</a:t>
                      </a:r>
                    </a:p>
                  </a:txBody>
                  <a:tcPr marL="109728" marR="109728" marT="54864" marB="54864" anchor="ctr">
                    <a:solidFill>
                      <a:srgbClr val="FFFFFF"/>
                    </a:solidFill>
                  </a:tcPr>
                </a:tc>
              </a:tr>
              <a:tr h="749808">
                <a:tc>
                  <a:txBody>
                    <a:bodyPr/>
                    <a:lstStyle/>
                    <a:p>
                      <a:pPr algn="l"/>
                      <a:r>
                        <a:rPr sz="2200" b="0">
                          <a:solidFill>
                            <a:srgbClr val="202428"/>
                          </a:solidFill>
                          <a:latin typeface="Liberation Sans"/>
                        </a:rPr>
                        <a:t>LightGBM, balanced</a:t>
                      </a:r>
                    </a:p>
                  </a:txBody>
                  <a:tcPr marL="109728" marR="109728" marT="54864" marB="54864" anchor="ctr">
                    <a:solidFill>
                      <a:srgbClr val="EDF2F6"/>
                    </a:solidFill>
                  </a:tcPr>
                </a:tc>
                <a:tc>
                  <a:txBody>
                    <a:bodyPr/>
                    <a:lstStyle/>
                    <a:p>
                      <a:pPr algn="ctr"/>
                      <a:r>
                        <a:rPr sz="2200" b="0">
                          <a:solidFill>
                            <a:srgbClr val="202428"/>
                          </a:solidFill>
                          <a:latin typeface="Liberation Sans"/>
                        </a:rPr>
                        <a:t>0.895</a:t>
                      </a:r>
                    </a:p>
                  </a:txBody>
                  <a:tcPr marL="109728" marR="109728" marT="54864" marB="54864" anchor="ctr">
                    <a:solidFill>
                      <a:srgbClr val="EDF2F6"/>
                    </a:solidFill>
                  </a:tcPr>
                </a:tc>
                <a:tc>
                  <a:txBody>
                    <a:bodyPr/>
                    <a:lstStyle/>
                    <a:p>
                      <a:pPr algn="ctr"/>
                      <a:r>
                        <a:rPr sz="2200" b="0">
                          <a:solidFill>
                            <a:srgbClr val="202428"/>
                          </a:solidFill>
                          <a:latin typeface="Liberation Sans"/>
                        </a:rPr>
                        <a:t>0.925</a:t>
                      </a:r>
                    </a:p>
                  </a:txBody>
                  <a:tcPr marL="109728" marR="109728" marT="54864" marB="54864" anchor="ctr">
                    <a:solidFill>
                      <a:srgbClr val="EDF2F6"/>
                    </a:solidFill>
                  </a:tcPr>
                </a:tc>
                <a:tc>
                  <a:txBody>
                    <a:bodyPr/>
                    <a:lstStyle/>
                    <a:p>
                      <a:pPr algn="ctr"/>
                      <a:r>
                        <a:rPr sz="2200" b="0">
                          <a:solidFill>
                            <a:srgbClr val="202428"/>
                          </a:solidFill>
                          <a:latin typeface="Liberation Sans"/>
                        </a:rPr>
                        <a:t>0.615</a:t>
                      </a:r>
                    </a:p>
                  </a:txBody>
                  <a:tcPr marL="109728" marR="109728" marT="54864" marB="54864" anchor="ctr">
                    <a:solidFill>
                      <a:srgbClr val="EDF2F6"/>
                    </a:solidFill>
                  </a:tcPr>
                </a:tc>
              </a:tr>
            </a:tbl>
          </a:graphicData>
        </a:graphic>
      </p:graphicFrame>
      <p:sp>
        <p:nvSpPr>
          <p:cNvPr id="9" name="Rectangle 8"/>
          <p:cNvSpPr/>
          <p:nvPr/>
        </p:nvSpPr>
        <p:spPr>
          <a:xfrm>
            <a:off x="548640" y="5321808"/>
            <a:ext cx="11064240" cy="71323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31536"/>
            <a:ext cx="10698480" cy="521207"/>
          </a:xfrm>
          <a:prstGeom prst="rect">
            <a:avLst/>
          </a:prstGeom>
          <a:noFill/>
        </p:spPr>
        <p:txBody>
          <a:bodyPr wrap="square" lIns="22860" rIns="22860" tIns="22860" bIns="22860">
            <a:spAutoFit/>
          </a:bodyPr>
          <a:lstStyle/>
          <a:p>
            <a:pPr>
              <a:lnSpc>
                <a:spcPct val="112000"/>
              </a:lnSpc>
              <a:spcBef>
                <a:spcPts val="0"/>
              </a:spcBef>
              <a:spcAft>
                <a:spcPts val="1200"/>
              </a:spcAft>
            </a:pPr>
            <a:r>
              <a:rPr sz="2100" b="1">
                <a:solidFill>
                  <a:srgbClr val="315F82"/>
                </a:solidFill>
                <a:latin typeface="Liberation Sans"/>
              </a:rPr>
              <a:t>A feature can earn its place pooled and cost recall inside the decision.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315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109960" cy="640080"/>
          </a:xfrm>
          <a:prstGeom prst="rect">
            <a:avLst/>
          </a:prstGeom>
          <a:noFill/>
        </p:spPr>
        <p:txBody>
          <a:bodyPr wrap="square" lIns="22860" rIns="22860" tIns="22860" bIns="22860">
            <a:spAutoFit/>
          </a:bodyPr>
          <a:lstStyle/>
          <a:p>
            <a:pPr>
              <a:lnSpc>
                <a:spcPct val="112000"/>
              </a:lnSpc>
              <a:spcBef>
                <a:spcPts val="0"/>
              </a:spcBef>
              <a:spcAft>
                <a:spcPts val="1200"/>
              </a:spcAft>
            </a:pPr>
            <a:r>
              <a:rPr sz="3000" b="1">
                <a:solidFill>
                  <a:srgbClr val="202428"/>
                </a:solidFill>
                <a:latin typeface="Liberation Sans"/>
              </a:rPr>
              <a:t>Offset sweep and calibration</a:t>
            </a:r>
          </a:p>
        </p:txBody>
      </p:sp>
      <p:sp>
        <p:nvSpPr>
          <p:cNvPr id="4" name="TextBox 3"/>
          <p:cNvSpPr txBox="1"/>
          <p:nvPr/>
        </p:nvSpPr>
        <p:spPr>
          <a:xfrm>
            <a:off x="530352" y="996696"/>
            <a:ext cx="11018520" cy="530352"/>
          </a:xfrm>
          <a:prstGeom prst="rect">
            <a:avLst/>
          </a:prstGeom>
          <a:noFill/>
        </p:spPr>
        <p:txBody>
          <a:bodyPr wrap="square" lIns="22860" rIns="22860" tIns="22860" bIns="22860">
            <a:spAutoFit/>
          </a:bodyPr>
          <a:lstStyle/>
          <a:p>
            <a:pPr>
              <a:lnSpc>
                <a:spcPct val="112000"/>
              </a:lnSpc>
              <a:spcBef>
                <a:spcPts val="0"/>
              </a:spcBef>
              <a:spcAft>
                <a:spcPts val="1200"/>
              </a:spcAft>
            </a:pPr>
            <a:r>
              <a:rPr sz="1700" b="0">
                <a:solidFill>
                  <a:srgbClr val="535F6B"/>
                </a:solidFill>
                <a:latin typeface="Liberation Sans"/>
              </a:rPr>
              <a:t>(a) Scaling the cross-layer offset trades pooled AUC for recall; (b) calibration depends on the fit.</a:t>
            </a:r>
          </a:p>
        </p:txBody>
      </p:sp>
      <p:sp>
        <p:nvSpPr>
          <p:cNvPr id="5" name="TextBox 4"/>
          <p:cNvSpPr txBox="1"/>
          <p:nvPr/>
        </p:nvSpPr>
        <p:spPr>
          <a:xfrm>
            <a:off x="530352" y="6190488"/>
            <a:ext cx="10789920" cy="32004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Source: icdm_v2_decomposition.json, icdm_v2.json · Python-generated paper figure</a:t>
            </a:r>
          </a:p>
        </p:txBody>
      </p:sp>
      <p:sp>
        <p:nvSpPr>
          <p:cNvPr id="6" name="TextBox 5"/>
          <p:cNvSpPr txBox="1"/>
          <p:nvPr/>
        </p:nvSpPr>
        <p:spPr>
          <a:xfrm>
            <a:off x="530352" y="6537960"/>
            <a:ext cx="10515600" cy="210312"/>
          </a:xfrm>
          <a:prstGeom prst="rect">
            <a:avLst/>
          </a:prstGeom>
          <a:noFill/>
        </p:spPr>
        <p:txBody>
          <a:bodyPr wrap="square" lIns="22860" rIns="22860" tIns="22860" bIns="22860">
            <a:spAutoFit/>
          </a:bodyPr>
          <a:lstStyle/>
          <a:p>
            <a:pPr>
              <a:lnSpc>
                <a:spcPct val="112000"/>
              </a:lnSpc>
              <a:spcBef>
                <a:spcPts val="0"/>
              </a:spcBef>
              <a:spcAft>
                <a:spcPts val="1200"/>
              </a:spcAft>
            </a:pPr>
            <a:r>
              <a:rPr sz="1000" b="0">
                <a:solidFill>
                  <a:srgbClr val="535F6B"/>
                </a:solidFill>
                <a:latin typeface="Liberation Sans"/>
              </a:rPr>
              <a:t>D2AI @ IEEE ICDM 2026  |  DM2158</a:t>
            </a:r>
          </a:p>
        </p:txBody>
      </p:sp>
      <p:sp>
        <p:nvSpPr>
          <p:cNvPr id="7" name="TextBox 6"/>
          <p:cNvSpPr txBox="1"/>
          <p:nvPr/>
        </p:nvSpPr>
        <p:spPr>
          <a:xfrm>
            <a:off x="11155680" y="6510528"/>
            <a:ext cx="548640" cy="27432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6</a:t>
            </a:r>
          </a:p>
        </p:txBody>
      </p:sp>
      <p:pic>
        <p:nvPicPr>
          <p:cNvPr id="8" name="Picture 7" descr="fig_redund_calib.png"/>
          <p:cNvPicPr>
            <a:picLocks noChangeAspect="1"/>
          </p:cNvPicPr>
          <p:nvPr/>
        </p:nvPicPr>
        <p:blipFill>
          <a:blip r:embed="rId3"/>
          <a:stretch>
            <a:fillRect/>
          </a:stretch>
        </p:blipFill>
        <p:spPr>
          <a:xfrm>
            <a:off x="2730466" y="1755648"/>
            <a:ext cx="6700586" cy="3493008"/>
          </a:xfrm>
          <a:prstGeom prst="rect">
            <a:avLst/>
          </a:prstGeom>
        </p:spPr>
      </p:pic>
      <p:sp>
        <p:nvSpPr>
          <p:cNvPr id="9" name="Rectangle 8"/>
          <p:cNvSpPr/>
          <p:nvPr/>
        </p:nvSpPr>
        <p:spPr>
          <a:xfrm>
            <a:off x="548640" y="5321808"/>
            <a:ext cx="11064240" cy="71323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31536"/>
            <a:ext cx="10698480" cy="521207"/>
          </a:xfrm>
          <a:prstGeom prst="rect">
            <a:avLst/>
          </a:prstGeom>
          <a:noFill/>
        </p:spPr>
        <p:txBody>
          <a:bodyPr wrap="square" lIns="22860" rIns="22860" tIns="22860" bIns="22860">
            <a:spAutoFit/>
          </a:bodyPr>
          <a:lstStyle/>
          <a:p>
            <a:pPr>
              <a:lnSpc>
                <a:spcPct val="112000"/>
              </a:lnSpc>
              <a:spcBef>
                <a:spcPts val="0"/>
              </a:spcBef>
              <a:spcAft>
                <a:spcPts val="1200"/>
              </a:spcAft>
            </a:pPr>
            <a:r>
              <a:rPr sz="2200" b="1">
                <a:solidFill>
                  <a:srgbClr val="315F82"/>
                </a:solidFill>
                <a:latin typeface="Liberation Sans"/>
              </a:rPr>
              <a:t>Low ECE does not establish a superior retention policy.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315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109960" cy="640080"/>
          </a:xfrm>
          <a:prstGeom prst="rect">
            <a:avLst/>
          </a:prstGeom>
          <a:noFill/>
        </p:spPr>
        <p:txBody>
          <a:bodyPr wrap="square" lIns="22860" rIns="22860" tIns="22860" bIns="22860">
            <a:spAutoFit/>
          </a:bodyPr>
          <a:lstStyle/>
          <a:p>
            <a:pPr>
              <a:lnSpc>
                <a:spcPct val="112000"/>
              </a:lnSpc>
              <a:spcBef>
                <a:spcPts val="0"/>
              </a:spcBef>
              <a:spcAft>
                <a:spcPts val="1200"/>
              </a:spcAft>
            </a:pPr>
            <a:r>
              <a:rPr sz="3000" b="1">
                <a:solidFill>
                  <a:srgbClr val="202428"/>
                </a:solidFill>
                <a:latin typeface="Liberation Sans"/>
              </a:rPr>
              <a:t>The runtime scorer reconstructs its features</a:t>
            </a:r>
          </a:p>
        </p:txBody>
      </p:sp>
      <p:sp>
        <p:nvSpPr>
          <p:cNvPr id="4" name="TextBox 3"/>
          <p:cNvSpPr txBox="1"/>
          <p:nvPr/>
        </p:nvSpPr>
        <p:spPr>
          <a:xfrm>
            <a:off x="530352" y="996696"/>
            <a:ext cx="11018520" cy="530352"/>
          </a:xfrm>
          <a:prstGeom prst="rect">
            <a:avLst/>
          </a:prstGeom>
          <a:noFill/>
        </p:spPr>
        <p:txBody>
          <a:bodyPr wrap="square" lIns="22860" rIns="22860" tIns="22860" bIns="22860">
            <a:spAutoFit/>
          </a:bodyPr>
          <a:lstStyle/>
          <a:p>
            <a:pPr>
              <a:lnSpc>
                <a:spcPct val="112000"/>
              </a:lnSpc>
              <a:spcBef>
                <a:spcPts val="0"/>
              </a:spcBef>
              <a:spcAft>
                <a:spcPts val="1200"/>
              </a:spcAft>
            </a:pPr>
            <a:r>
              <a:rPr sz="1700" b="0">
                <a:solidFill>
                  <a:srgbClr val="535F6B"/>
                </a:solidFill>
                <a:latin typeface="Liberation Sans"/>
              </a:rPr>
              <a:t>A matched-row bridge separates feature realization from trajectory changes.</a:t>
            </a:r>
          </a:p>
        </p:txBody>
      </p:sp>
      <p:sp>
        <p:nvSpPr>
          <p:cNvPr id="5" name="TextBox 4"/>
          <p:cNvSpPr txBox="1"/>
          <p:nvPr/>
        </p:nvSpPr>
        <p:spPr>
          <a:xfrm>
            <a:off x="530352" y="6190488"/>
            <a:ext cx="10789920" cy="32004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Source: feature_bridge/bridge.{llama.bf16,qwen.fp32}.json · paper §IV-B</a:t>
            </a:r>
          </a:p>
        </p:txBody>
      </p:sp>
      <p:sp>
        <p:nvSpPr>
          <p:cNvPr id="6" name="TextBox 5"/>
          <p:cNvSpPr txBox="1"/>
          <p:nvPr/>
        </p:nvSpPr>
        <p:spPr>
          <a:xfrm>
            <a:off x="530352" y="6537960"/>
            <a:ext cx="10515600" cy="210312"/>
          </a:xfrm>
          <a:prstGeom prst="rect">
            <a:avLst/>
          </a:prstGeom>
          <a:noFill/>
        </p:spPr>
        <p:txBody>
          <a:bodyPr wrap="square" lIns="22860" rIns="22860" tIns="22860" bIns="22860">
            <a:spAutoFit/>
          </a:bodyPr>
          <a:lstStyle/>
          <a:p>
            <a:pPr>
              <a:lnSpc>
                <a:spcPct val="112000"/>
              </a:lnSpc>
              <a:spcBef>
                <a:spcPts val="0"/>
              </a:spcBef>
              <a:spcAft>
                <a:spcPts val="1200"/>
              </a:spcAft>
            </a:pPr>
            <a:r>
              <a:rPr sz="1000" b="0">
                <a:solidFill>
                  <a:srgbClr val="535F6B"/>
                </a:solidFill>
                <a:latin typeface="Liberation Sans"/>
              </a:rPr>
              <a:t>D2AI @ IEEE ICDM 2026  |  DM2158</a:t>
            </a:r>
          </a:p>
        </p:txBody>
      </p:sp>
      <p:sp>
        <p:nvSpPr>
          <p:cNvPr id="7" name="TextBox 6"/>
          <p:cNvSpPr txBox="1"/>
          <p:nvPr/>
        </p:nvSpPr>
        <p:spPr>
          <a:xfrm>
            <a:off x="11155680" y="6510528"/>
            <a:ext cx="548640" cy="27432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7</a:t>
            </a:r>
          </a:p>
        </p:txBody>
      </p:sp>
      <p:graphicFrame>
        <p:nvGraphicFramePr>
          <p:cNvPr id="8" name="Table 7"/>
          <p:cNvGraphicFramePr>
            <a:graphicFrameLocks noGrp="1"/>
          </p:cNvGraphicFramePr>
          <p:nvPr/>
        </p:nvGraphicFramePr>
        <p:xfrm>
          <a:off x="640080" y="1938528"/>
          <a:ext cx="10835640" cy="2779776"/>
        </p:xfrm>
        <a:graphic>
          <a:graphicData uri="http://schemas.openxmlformats.org/drawingml/2006/table">
            <a:tbl>
              <a:tblPr firstRow="1" bandRow="1">
                <a:tableStyleId>{5C22544A-7EE6-4342-B048-85BDC9FD1C3A}</a:tableStyleId>
              </a:tblPr>
              <a:tblGrid>
                <a:gridCol w="5577840"/>
                <a:gridCol w="2606040"/>
                <a:gridCol w="2651760"/>
              </a:tblGrid>
              <a:tr h="694944">
                <a:tc>
                  <a:txBody>
                    <a:bodyPr/>
                    <a:lstStyle/>
                    <a:p>
                      <a:pPr algn="l"/>
                      <a:r>
                        <a:rPr sz="2200" b="1">
                          <a:solidFill>
                            <a:srgbClr val="FFFFFF"/>
                          </a:solidFill>
                          <a:latin typeface="Liberation Sans"/>
                        </a:rPr>
                        <a:t>Feature / trajectory arm</a:t>
                      </a:r>
                    </a:p>
                  </a:txBody>
                  <a:tcPr marL="109728" marR="109728" marT="54864" marB="54864" anchor="ctr">
                    <a:solidFill>
                      <a:srgbClr val="315F82"/>
                    </a:solidFill>
                  </a:tcPr>
                </a:tc>
                <a:tc>
                  <a:txBody>
                    <a:bodyPr/>
                    <a:lstStyle/>
                    <a:p>
                      <a:pPr algn="ctr"/>
                      <a:r>
                        <a:rPr sz="2200" b="1">
                          <a:solidFill>
                            <a:srgbClr val="FFFFFF"/>
                          </a:solidFill>
                          <a:latin typeface="Liberation Sans"/>
                        </a:rPr>
                        <a:t>Llama bf16</a:t>
                      </a:r>
                    </a:p>
                  </a:txBody>
                  <a:tcPr marL="109728" marR="109728" marT="54864" marB="54864" anchor="ctr">
                    <a:solidFill>
                      <a:srgbClr val="315F82"/>
                    </a:solidFill>
                  </a:tcPr>
                </a:tc>
                <a:tc>
                  <a:txBody>
                    <a:bodyPr/>
                    <a:lstStyle/>
                    <a:p>
                      <a:pPr algn="ctr"/>
                      <a:r>
                        <a:rPr sz="2200" b="1">
                          <a:solidFill>
                            <a:srgbClr val="FFFFFF"/>
                          </a:solidFill>
                          <a:latin typeface="Liberation Sans"/>
                        </a:rPr>
                        <a:t>Qwen fp32</a:t>
                      </a:r>
                    </a:p>
                  </a:txBody>
                  <a:tcPr marL="109728" marR="109728" marT="54864" marB="54864" anchor="ctr">
                    <a:solidFill>
                      <a:srgbClr val="315F82"/>
                    </a:solidFill>
                  </a:tcPr>
                </a:tc>
              </a:tr>
              <a:tr h="694944">
                <a:tc>
                  <a:txBody>
                    <a:bodyPr/>
                    <a:lstStyle/>
                    <a:p>
                      <a:pPr algn="l"/>
                      <a:r>
                        <a:rPr sz="2200" b="0">
                          <a:solidFill>
                            <a:srgbClr val="202428"/>
                          </a:solidFill>
                          <a:latin typeface="Liberation Sans"/>
                        </a:rPr>
                        <a:t>A: offline / full cache</a:t>
                      </a:r>
                    </a:p>
                  </a:txBody>
                  <a:tcPr marL="109728" marR="109728" marT="54864" marB="54864" anchor="ctr">
                    <a:solidFill>
                      <a:srgbClr val="EDF2F6"/>
                    </a:solidFill>
                  </a:tcPr>
                </a:tc>
                <a:tc>
                  <a:txBody>
                    <a:bodyPr/>
                    <a:lstStyle/>
                    <a:p>
                      <a:pPr algn="ctr"/>
                      <a:r>
                        <a:rPr sz="2200" b="0">
                          <a:solidFill>
                            <a:srgbClr val="202428"/>
                          </a:solidFill>
                          <a:latin typeface="Liberation Sans"/>
                        </a:rPr>
                        <a:t>0.902</a:t>
                      </a:r>
                    </a:p>
                  </a:txBody>
                  <a:tcPr marL="109728" marR="109728" marT="54864" marB="54864" anchor="ctr">
                    <a:solidFill>
                      <a:srgbClr val="EDF2F6"/>
                    </a:solidFill>
                  </a:tcPr>
                </a:tc>
                <a:tc>
                  <a:txBody>
                    <a:bodyPr/>
                    <a:lstStyle/>
                    <a:p>
                      <a:pPr algn="ctr"/>
                      <a:r>
                        <a:rPr sz="2200" b="0">
                          <a:solidFill>
                            <a:srgbClr val="202428"/>
                          </a:solidFill>
                          <a:latin typeface="Liberation Sans"/>
                        </a:rPr>
                        <a:t>0.894</a:t>
                      </a:r>
                    </a:p>
                  </a:txBody>
                  <a:tcPr marL="109728" marR="109728" marT="54864" marB="54864" anchor="ctr">
                    <a:solidFill>
                      <a:srgbClr val="EDF2F6"/>
                    </a:solidFill>
                  </a:tcPr>
                </a:tc>
              </a:tr>
              <a:tr h="694944">
                <a:tc>
                  <a:txBody>
                    <a:bodyPr/>
                    <a:lstStyle/>
                    <a:p>
                      <a:pPr algn="l"/>
                      <a:r>
                        <a:rPr sz="2200" b="0">
                          <a:solidFill>
                            <a:srgbClr val="202428"/>
                          </a:solidFill>
                          <a:latin typeface="Liberation Sans"/>
                        </a:rPr>
                        <a:t>B: runtime / full cache</a:t>
                      </a:r>
                    </a:p>
                  </a:txBody>
                  <a:tcPr marL="109728" marR="109728" marT="54864" marB="54864" anchor="ctr">
                    <a:solidFill>
                      <a:srgbClr val="FFFFFF"/>
                    </a:solidFill>
                  </a:tcPr>
                </a:tc>
                <a:tc>
                  <a:txBody>
                    <a:bodyPr/>
                    <a:lstStyle/>
                    <a:p>
                      <a:pPr algn="ctr"/>
                      <a:r>
                        <a:rPr sz="2200" b="0">
                          <a:solidFill>
                            <a:srgbClr val="202428"/>
                          </a:solidFill>
                          <a:latin typeface="Liberation Sans"/>
                        </a:rPr>
                        <a:t>0.899</a:t>
                      </a:r>
                    </a:p>
                  </a:txBody>
                  <a:tcPr marL="109728" marR="109728" marT="54864" marB="54864" anchor="ctr">
                    <a:solidFill>
                      <a:srgbClr val="FFFFFF"/>
                    </a:solidFill>
                  </a:tcPr>
                </a:tc>
                <a:tc>
                  <a:txBody>
                    <a:bodyPr/>
                    <a:lstStyle/>
                    <a:p>
                      <a:pPr algn="ctr"/>
                      <a:r>
                        <a:rPr sz="2200" b="0">
                          <a:solidFill>
                            <a:srgbClr val="202428"/>
                          </a:solidFill>
                          <a:latin typeface="Liberation Sans"/>
                        </a:rPr>
                        <a:t>0.892</a:t>
                      </a:r>
                    </a:p>
                  </a:txBody>
                  <a:tcPr marL="109728" marR="109728" marT="54864" marB="54864" anchor="ctr">
                    <a:solidFill>
                      <a:srgbClr val="FFFFFF"/>
                    </a:solidFill>
                  </a:tcPr>
                </a:tc>
              </a:tr>
              <a:tr h="694944">
                <a:tc>
                  <a:txBody>
                    <a:bodyPr/>
                    <a:lstStyle/>
                    <a:p>
                      <a:pPr algn="l"/>
                      <a:r>
                        <a:rPr sz="2200" b="0">
                          <a:solidFill>
                            <a:srgbClr val="202428"/>
                          </a:solidFill>
                          <a:latin typeface="Liberation Sans"/>
                        </a:rPr>
                        <a:t>C: runtime / on policy</a:t>
                      </a:r>
                    </a:p>
                  </a:txBody>
                  <a:tcPr marL="109728" marR="109728" marT="54864" marB="54864" anchor="ctr">
                    <a:solidFill>
                      <a:srgbClr val="EDF2F6"/>
                    </a:solidFill>
                  </a:tcPr>
                </a:tc>
                <a:tc>
                  <a:txBody>
                    <a:bodyPr/>
                    <a:lstStyle/>
                    <a:p>
                      <a:pPr algn="ctr"/>
                      <a:r>
                        <a:rPr sz="2200" b="0">
                          <a:solidFill>
                            <a:srgbClr val="202428"/>
                          </a:solidFill>
                          <a:latin typeface="Liberation Sans"/>
                        </a:rPr>
                        <a:t>0.989</a:t>
                      </a:r>
                    </a:p>
                  </a:txBody>
                  <a:tcPr marL="109728" marR="109728" marT="54864" marB="54864" anchor="ctr">
                    <a:solidFill>
                      <a:srgbClr val="EDF2F6"/>
                    </a:solidFill>
                  </a:tcPr>
                </a:tc>
                <a:tc>
                  <a:txBody>
                    <a:bodyPr/>
                    <a:lstStyle/>
                    <a:p>
                      <a:pPr algn="ctr"/>
                      <a:r>
                        <a:rPr sz="2200" b="0">
                          <a:solidFill>
                            <a:srgbClr val="202428"/>
                          </a:solidFill>
                          <a:latin typeface="Liberation Sans"/>
                        </a:rPr>
                        <a:t>0.989</a:t>
                      </a:r>
                    </a:p>
                  </a:txBody>
                  <a:tcPr marL="109728" marR="109728" marT="54864" marB="54864" anchor="ctr">
                    <a:solidFill>
                      <a:srgbClr val="EDF2F6"/>
                    </a:solidFill>
                  </a:tcPr>
                </a:tc>
              </a:tr>
            </a:tbl>
          </a:graphicData>
        </a:graphic>
      </p:graphicFrame>
      <p:sp>
        <p:nvSpPr>
          <p:cNvPr id="9" name="Rectangle 8"/>
          <p:cNvSpPr/>
          <p:nvPr/>
        </p:nvSpPr>
        <p:spPr>
          <a:xfrm>
            <a:off x="548640" y="5321808"/>
            <a:ext cx="11064240" cy="71323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31536"/>
            <a:ext cx="10698480" cy="521207"/>
          </a:xfrm>
          <a:prstGeom prst="rect">
            <a:avLst/>
          </a:prstGeom>
          <a:noFill/>
        </p:spPr>
        <p:txBody>
          <a:bodyPr wrap="square" lIns="22860" rIns="22860" tIns="22860" bIns="22860">
            <a:spAutoFit/>
          </a:bodyPr>
          <a:lstStyle/>
          <a:p>
            <a:pPr>
              <a:lnSpc>
                <a:spcPct val="112000"/>
              </a:lnSpc>
              <a:spcBef>
                <a:spcPts val="0"/>
              </a:spcBef>
              <a:spcAft>
                <a:spcPts val="1200"/>
              </a:spcAft>
            </a:pPr>
            <a:r>
              <a:rPr sz="2000" b="1">
                <a:solidFill>
                  <a:srgbClr val="315F82"/>
                </a:solidFill>
                <a:latin typeface="Liberation Sans"/>
              </a:rPr>
              <a:t>The bridge measures reconstruction; the historical gap's cause remains open.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315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109960" cy="640080"/>
          </a:xfrm>
          <a:prstGeom prst="rect">
            <a:avLst/>
          </a:prstGeom>
          <a:noFill/>
        </p:spPr>
        <p:txBody>
          <a:bodyPr wrap="square" lIns="22860" rIns="22860" tIns="22860" bIns="22860">
            <a:spAutoFit/>
          </a:bodyPr>
          <a:lstStyle/>
          <a:p>
            <a:pPr>
              <a:lnSpc>
                <a:spcPct val="112000"/>
              </a:lnSpc>
              <a:spcBef>
                <a:spcPts val="0"/>
              </a:spcBef>
              <a:spcAft>
                <a:spcPts val="1200"/>
              </a:spcAft>
            </a:pPr>
            <a:r>
              <a:rPr sz="3000" b="1">
                <a:solidFill>
                  <a:srgbClr val="202428"/>
                </a:solidFill>
                <a:latin typeface="Liberation Sans"/>
              </a:rPr>
              <a:t>Closed-loop answer quality: the pinned rerun</a:t>
            </a:r>
          </a:p>
        </p:txBody>
      </p:sp>
      <p:sp>
        <p:nvSpPr>
          <p:cNvPr id="4" name="TextBox 3"/>
          <p:cNvSpPr txBox="1"/>
          <p:nvPr/>
        </p:nvSpPr>
        <p:spPr>
          <a:xfrm>
            <a:off x="530352" y="996696"/>
            <a:ext cx="11018520" cy="530352"/>
          </a:xfrm>
          <a:prstGeom prst="rect">
            <a:avLst/>
          </a:prstGeom>
          <a:noFill/>
        </p:spPr>
        <p:txBody>
          <a:bodyPr wrap="square" lIns="22860" rIns="22860" tIns="22860" bIns="22860">
            <a:spAutoFit/>
          </a:bodyPr>
          <a:lstStyle/>
          <a:p>
            <a:pPr>
              <a:lnSpc>
                <a:spcPct val="112000"/>
              </a:lnSpc>
              <a:spcBef>
                <a:spcPts val="0"/>
              </a:spcBef>
              <a:spcAft>
                <a:spcPts val="1200"/>
              </a:spcAft>
            </a:pPr>
            <a:r>
              <a:rPr sz="1700" b="0">
                <a:solidFill>
                  <a:srgbClr val="535F6B"/>
                </a:solidFill>
                <a:latin typeface="Liberation Sans"/>
              </a:rPr>
              <a:t>448 source prompts × 2 models = 896 model–prompt evaluations; 7 datasets</a:t>
            </a:r>
          </a:p>
        </p:txBody>
      </p:sp>
      <p:sp>
        <p:nvSpPr>
          <p:cNvPr id="5" name="TextBox 4"/>
          <p:cNvSpPr txBox="1"/>
          <p:nvPr/>
        </p:nvSpPr>
        <p:spPr>
          <a:xfrm>
            <a:off x="530352" y="6190488"/>
            <a:ext cx="10789920" cy="32004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Source: expand_v2/ provenance and tost/expand_v2_sensitivity.json · paper Exp#8</a:t>
            </a:r>
          </a:p>
        </p:txBody>
      </p:sp>
      <p:sp>
        <p:nvSpPr>
          <p:cNvPr id="6" name="TextBox 5"/>
          <p:cNvSpPr txBox="1"/>
          <p:nvPr/>
        </p:nvSpPr>
        <p:spPr>
          <a:xfrm>
            <a:off x="530352" y="6537960"/>
            <a:ext cx="10515600" cy="210312"/>
          </a:xfrm>
          <a:prstGeom prst="rect">
            <a:avLst/>
          </a:prstGeom>
          <a:noFill/>
        </p:spPr>
        <p:txBody>
          <a:bodyPr wrap="square" lIns="22860" rIns="22860" tIns="22860" bIns="22860">
            <a:spAutoFit/>
          </a:bodyPr>
          <a:lstStyle/>
          <a:p>
            <a:pPr>
              <a:lnSpc>
                <a:spcPct val="112000"/>
              </a:lnSpc>
              <a:spcBef>
                <a:spcPts val="0"/>
              </a:spcBef>
              <a:spcAft>
                <a:spcPts val="1200"/>
              </a:spcAft>
            </a:pPr>
            <a:r>
              <a:rPr sz="1000" b="0">
                <a:solidFill>
                  <a:srgbClr val="535F6B"/>
                </a:solidFill>
                <a:latin typeface="Liberation Sans"/>
              </a:rPr>
              <a:t>D2AI @ IEEE ICDM 2026  |  DM2158</a:t>
            </a:r>
          </a:p>
        </p:txBody>
      </p:sp>
      <p:sp>
        <p:nvSpPr>
          <p:cNvPr id="7" name="TextBox 6"/>
          <p:cNvSpPr txBox="1"/>
          <p:nvPr/>
        </p:nvSpPr>
        <p:spPr>
          <a:xfrm>
            <a:off x="11155680" y="6510528"/>
            <a:ext cx="548640" cy="27432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8</a:t>
            </a:r>
          </a:p>
        </p:txBody>
      </p:sp>
      <p:sp>
        <p:nvSpPr>
          <p:cNvPr id="8" name="TextBox 7"/>
          <p:cNvSpPr txBox="1"/>
          <p:nvPr/>
        </p:nvSpPr>
        <p:spPr>
          <a:xfrm>
            <a:off x="822960" y="1920240"/>
            <a:ext cx="10561320" cy="3108960"/>
          </a:xfrm>
          <a:prstGeom prst="rect">
            <a:avLst/>
          </a:prstGeom>
          <a:noFill/>
        </p:spPr>
        <p:txBody>
          <a:bodyPr wrap="square" lIns="22860" rIns="22860" tIns="22860" bIns="22860">
            <a:spAutoFit/>
          </a:bodyPr>
          <a:lstStyle/>
          <a:p>
            <a:pPr>
              <a:lnSpc>
                <a:spcPct val="112000"/>
              </a:lnSpc>
              <a:spcBef>
                <a:spcPts val="0"/>
              </a:spcBef>
              <a:spcAft>
                <a:spcPts val="1200"/>
              </a:spcAft>
            </a:pPr>
            <a:r>
              <a:rPr sz="2500" b="0">
                <a:solidFill>
                  <a:srgbClr val="202428"/>
                </a:solidFill>
                <a:latin typeface="Liberation Sans"/>
              </a:rPr>
              <a:t>20% logical retention; each policy drives its own trajectory.</a:t>
            </a:r>
          </a:p>
          <a:p>
            <a:pPr>
              <a:lnSpc>
                <a:spcPct val="112000"/>
              </a:lnSpc>
              <a:spcBef>
                <a:spcPts val="0"/>
              </a:spcBef>
              <a:spcAft>
                <a:spcPts val="1200"/>
              </a:spcAft>
            </a:pPr>
            <a:r>
              <a:rPr sz="2500" b="0">
                <a:solidFill>
                  <a:srgbClr val="202428"/>
                </a:solidFill>
                <a:latin typeface="Liberation Sans"/>
              </a:rPr>
              <a:t>Pinned simulator source and bfloat16 numerics.</a:t>
            </a:r>
          </a:p>
          <a:p>
            <a:pPr>
              <a:lnSpc>
                <a:spcPct val="112000"/>
              </a:lnSpc>
              <a:spcBef>
                <a:spcPts val="0"/>
              </a:spcBef>
              <a:spcAft>
                <a:spcPts val="1200"/>
              </a:spcAft>
            </a:pPr>
            <a:r>
              <a:rPr sz="2500" b="0">
                <a:solidFill>
                  <a:srgbClr val="202428"/>
                </a:solidFill>
                <a:latin typeface="Liberation Sans"/>
              </a:rPr>
              <a:t>Official LongBench scoring with all reference answers.</a:t>
            </a:r>
          </a:p>
          <a:p>
            <a:pPr>
              <a:lnSpc>
                <a:spcPct val="112000"/>
              </a:lnSpc>
              <a:spcBef>
                <a:spcPts val="0"/>
              </a:spcBef>
              <a:spcAft>
                <a:spcPts val="1200"/>
              </a:spcAft>
            </a:pPr>
            <a:r>
              <a:rPr sz="2500" b="0">
                <a:solidFill>
                  <a:srgbClr val="202428"/>
                </a:solidFill>
                <a:latin typeface="Liberation Sans"/>
              </a:rPr>
              <a:t>Primary: TOST over seven dataset means; practical ±0.02 F1 margin, not pre-registered.</a:t>
            </a:r>
          </a:p>
        </p:txBody>
      </p:sp>
      <p:sp>
        <p:nvSpPr>
          <p:cNvPr id="9" name="Rectangle 8"/>
          <p:cNvSpPr/>
          <p:nvPr/>
        </p:nvSpPr>
        <p:spPr>
          <a:xfrm>
            <a:off x="548640" y="5321808"/>
            <a:ext cx="11064240" cy="71323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31536"/>
            <a:ext cx="10698480" cy="521207"/>
          </a:xfrm>
          <a:prstGeom prst="rect">
            <a:avLst/>
          </a:prstGeom>
          <a:noFill/>
        </p:spPr>
        <p:txBody>
          <a:bodyPr wrap="square" lIns="22860" rIns="22860" tIns="22860" bIns="22860">
            <a:spAutoFit/>
          </a:bodyPr>
          <a:lstStyle/>
          <a:p>
            <a:pPr>
              <a:lnSpc>
                <a:spcPct val="112000"/>
              </a:lnSpc>
              <a:spcBef>
                <a:spcPts val="0"/>
              </a:spcBef>
              <a:spcAft>
                <a:spcPts val="1200"/>
              </a:spcAft>
            </a:pPr>
            <a:r>
              <a:rPr sz="2100" b="1">
                <a:solidFill>
                  <a:srgbClr val="315F82"/>
                </a:solidFill>
                <a:latin typeface="Liberation Sans"/>
              </a:rPr>
              <a:t>The main task-quality comparison has two architectures and seven tasks.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315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109960" cy="640080"/>
          </a:xfrm>
          <a:prstGeom prst="rect">
            <a:avLst/>
          </a:prstGeom>
          <a:noFill/>
        </p:spPr>
        <p:txBody>
          <a:bodyPr wrap="square" lIns="22860" rIns="22860" tIns="22860" bIns="22860">
            <a:spAutoFit/>
          </a:bodyPr>
          <a:lstStyle/>
          <a:p>
            <a:pPr>
              <a:lnSpc>
                <a:spcPct val="112000"/>
              </a:lnSpc>
              <a:spcBef>
                <a:spcPts val="0"/>
              </a:spcBef>
              <a:spcAft>
                <a:spcPts val="1200"/>
              </a:spcAft>
            </a:pPr>
            <a:r>
              <a:rPr sz="3000" b="1">
                <a:solidFill>
                  <a:srgbClr val="202428"/>
                </a:solidFill>
                <a:latin typeface="Liberation Sans"/>
              </a:rPr>
              <a:t>Mean F1 is equivalent within the chosen margin</a:t>
            </a:r>
          </a:p>
        </p:txBody>
      </p:sp>
      <p:sp>
        <p:nvSpPr>
          <p:cNvPr id="4" name="TextBox 3"/>
          <p:cNvSpPr txBox="1"/>
          <p:nvPr/>
        </p:nvSpPr>
        <p:spPr>
          <a:xfrm>
            <a:off x="530352" y="996696"/>
            <a:ext cx="11018520" cy="530352"/>
          </a:xfrm>
          <a:prstGeom prst="rect">
            <a:avLst/>
          </a:prstGeom>
          <a:noFill/>
        </p:spPr>
        <p:txBody>
          <a:bodyPr wrap="square" lIns="22860" rIns="22860" tIns="22860" bIns="22860">
            <a:spAutoFit/>
          </a:bodyPr>
          <a:lstStyle/>
          <a:p>
            <a:pPr>
              <a:lnSpc>
                <a:spcPct val="112000"/>
              </a:lnSpc>
              <a:spcBef>
                <a:spcPts val="0"/>
              </a:spcBef>
              <a:spcAft>
                <a:spcPts val="1200"/>
              </a:spcAft>
            </a:pPr>
            <a:r>
              <a:rPr sz="1700" b="0">
                <a:solidFill>
                  <a:srgbClr val="535F6B"/>
                </a:solidFill>
                <a:latin typeface="Liberation Sans"/>
              </a:rPr>
              <a:t>Both compressed policies remain below full-cache quality.</a:t>
            </a:r>
          </a:p>
        </p:txBody>
      </p:sp>
      <p:sp>
        <p:nvSpPr>
          <p:cNvPr id="5" name="TextBox 4"/>
          <p:cNvSpPr txBox="1"/>
          <p:nvPr/>
        </p:nvSpPr>
        <p:spPr>
          <a:xfrm>
            <a:off x="530352" y="6190488"/>
            <a:ext cx="10789920" cy="32004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Source: tost/expand_v2_sensitivity.json · paper Table IV</a:t>
            </a:r>
          </a:p>
        </p:txBody>
      </p:sp>
      <p:sp>
        <p:nvSpPr>
          <p:cNvPr id="6" name="TextBox 5"/>
          <p:cNvSpPr txBox="1"/>
          <p:nvPr/>
        </p:nvSpPr>
        <p:spPr>
          <a:xfrm>
            <a:off x="530352" y="6537960"/>
            <a:ext cx="10515600" cy="210312"/>
          </a:xfrm>
          <a:prstGeom prst="rect">
            <a:avLst/>
          </a:prstGeom>
          <a:noFill/>
        </p:spPr>
        <p:txBody>
          <a:bodyPr wrap="square" lIns="22860" rIns="22860" tIns="22860" bIns="22860">
            <a:spAutoFit/>
          </a:bodyPr>
          <a:lstStyle/>
          <a:p>
            <a:pPr>
              <a:lnSpc>
                <a:spcPct val="112000"/>
              </a:lnSpc>
              <a:spcBef>
                <a:spcPts val="0"/>
              </a:spcBef>
              <a:spcAft>
                <a:spcPts val="1200"/>
              </a:spcAft>
            </a:pPr>
            <a:r>
              <a:rPr sz="1000" b="0">
                <a:solidFill>
                  <a:srgbClr val="535F6B"/>
                </a:solidFill>
                <a:latin typeface="Liberation Sans"/>
              </a:rPr>
              <a:t>D2AI @ IEEE ICDM 2026  |  DM2158</a:t>
            </a:r>
          </a:p>
        </p:txBody>
      </p:sp>
      <p:sp>
        <p:nvSpPr>
          <p:cNvPr id="7" name="TextBox 6"/>
          <p:cNvSpPr txBox="1"/>
          <p:nvPr/>
        </p:nvSpPr>
        <p:spPr>
          <a:xfrm>
            <a:off x="11155680" y="6510528"/>
            <a:ext cx="548640" cy="27432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9</a:t>
            </a:r>
          </a:p>
        </p:txBody>
      </p:sp>
      <p:graphicFrame>
        <p:nvGraphicFramePr>
          <p:cNvPr id="8" name="Table 7"/>
          <p:cNvGraphicFramePr>
            <a:graphicFrameLocks noGrp="1"/>
          </p:cNvGraphicFramePr>
          <p:nvPr/>
        </p:nvGraphicFramePr>
        <p:xfrm>
          <a:off x="640080" y="1755648"/>
          <a:ext cx="10835640" cy="2523744"/>
        </p:xfrm>
        <a:graphic>
          <a:graphicData uri="http://schemas.openxmlformats.org/drawingml/2006/table">
            <a:tbl>
              <a:tblPr firstRow="1" bandRow="1">
                <a:tableStyleId>{5C22544A-7EE6-4342-B048-85BDC9FD1C3A}</a:tableStyleId>
              </a:tblPr>
              <a:tblGrid>
                <a:gridCol w="7315200"/>
                <a:gridCol w="3520440"/>
              </a:tblGrid>
              <a:tr h="630936">
                <a:tc>
                  <a:txBody>
                    <a:bodyPr/>
                    <a:lstStyle/>
                    <a:p>
                      <a:pPr algn="l"/>
                      <a:r>
                        <a:rPr sz="2200" b="1">
                          <a:solidFill>
                            <a:srgbClr val="FFFFFF"/>
                          </a:solidFill>
                          <a:latin typeface="Liberation Sans"/>
                        </a:rPr>
                        <a:t>Policy realization</a:t>
                      </a:r>
                    </a:p>
                  </a:txBody>
                  <a:tcPr marL="109728" marR="109728" marT="54864" marB="54864" anchor="ctr">
                    <a:solidFill>
                      <a:srgbClr val="315F82"/>
                    </a:solidFill>
                  </a:tcPr>
                </a:tc>
                <a:tc>
                  <a:txBody>
                    <a:bodyPr/>
                    <a:lstStyle/>
                    <a:p>
                      <a:pPr algn="ctr"/>
                      <a:r>
                        <a:rPr sz="2200" b="1">
                          <a:solidFill>
                            <a:srgbClr val="FFFFFF"/>
                          </a:solidFill>
                          <a:latin typeface="Liberation Sans"/>
                        </a:rPr>
                        <a:t>Mean F1</a:t>
                      </a:r>
                    </a:p>
                  </a:txBody>
                  <a:tcPr marL="109728" marR="109728" marT="54864" marB="54864" anchor="ctr">
                    <a:solidFill>
                      <a:srgbClr val="315F82"/>
                    </a:solidFill>
                  </a:tcPr>
                </a:tc>
              </a:tr>
              <a:tr h="630936">
                <a:tc>
                  <a:txBody>
                    <a:bodyPr/>
                    <a:lstStyle/>
                    <a:p>
                      <a:pPr algn="l"/>
                      <a:r>
                        <a:rPr sz="2200" b="0">
                          <a:solidFill>
                            <a:srgbClr val="202428"/>
                          </a:solidFill>
                          <a:latin typeface="Liberation Sans"/>
                        </a:rPr>
                        <a:t>Full cache</a:t>
                      </a:r>
                    </a:p>
                  </a:txBody>
                  <a:tcPr marL="109728" marR="109728" marT="54864" marB="54864" anchor="ctr">
                    <a:solidFill>
                      <a:srgbClr val="EDF2F6"/>
                    </a:solidFill>
                  </a:tcPr>
                </a:tc>
                <a:tc>
                  <a:txBody>
                    <a:bodyPr/>
                    <a:lstStyle/>
                    <a:p>
                      <a:pPr algn="ctr"/>
                      <a:r>
                        <a:rPr sz="2200" b="0">
                          <a:solidFill>
                            <a:srgbClr val="202428"/>
                          </a:solidFill>
                          <a:latin typeface="Liberation Sans"/>
                        </a:rPr>
                        <a:t>0.419</a:t>
                      </a:r>
                    </a:p>
                  </a:txBody>
                  <a:tcPr marL="109728" marR="109728" marT="54864" marB="54864" anchor="ctr">
                    <a:solidFill>
                      <a:srgbClr val="EDF2F6"/>
                    </a:solidFill>
                  </a:tcPr>
                </a:tc>
              </a:tr>
              <a:tr h="630936">
                <a:tc>
                  <a:txBody>
                    <a:bodyPr/>
                    <a:lstStyle/>
                    <a:p>
                      <a:pPr algn="l"/>
                      <a:r>
                        <a:rPr sz="2200" b="0">
                          <a:solidFill>
                            <a:srgbClr val="202428"/>
                          </a:solidFill>
                          <a:latin typeface="Liberation Sans"/>
                        </a:rPr>
                        <a:t>H2O-style accumulation</a:t>
                      </a:r>
                    </a:p>
                  </a:txBody>
                  <a:tcPr marL="109728" marR="109728" marT="54864" marB="54864" anchor="ctr">
                    <a:solidFill>
                      <a:srgbClr val="FFFFFF"/>
                    </a:solidFill>
                  </a:tcPr>
                </a:tc>
                <a:tc>
                  <a:txBody>
                    <a:bodyPr/>
                    <a:lstStyle/>
                    <a:p>
                      <a:pPr algn="ctr"/>
                      <a:r>
                        <a:rPr sz="2200" b="0">
                          <a:solidFill>
                            <a:srgbClr val="202428"/>
                          </a:solidFill>
                          <a:latin typeface="Liberation Sans"/>
                        </a:rPr>
                        <a:t>0.372</a:t>
                      </a:r>
                    </a:p>
                  </a:txBody>
                  <a:tcPr marL="109728" marR="109728" marT="54864" marB="54864" anchor="ctr">
                    <a:solidFill>
                      <a:srgbClr val="FFFFFF"/>
                    </a:solidFill>
                  </a:tcPr>
                </a:tc>
              </a:tr>
              <a:tr h="630936">
                <a:tc>
                  <a:txBody>
                    <a:bodyPr/>
                    <a:lstStyle/>
                    <a:p>
                      <a:pPr algn="l"/>
                      <a:r>
                        <a:rPr sz="2200" b="0">
                          <a:solidFill>
                            <a:srgbClr val="202428"/>
                          </a:solidFill>
                          <a:latin typeface="Liberation Sans"/>
                        </a:rPr>
                        <a:t>Reconstructed two-view</a:t>
                      </a:r>
                    </a:p>
                  </a:txBody>
                  <a:tcPr marL="109728" marR="109728" marT="54864" marB="54864" anchor="ctr">
                    <a:solidFill>
                      <a:srgbClr val="EDF2F6"/>
                    </a:solidFill>
                  </a:tcPr>
                </a:tc>
                <a:tc>
                  <a:txBody>
                    <a:bodyPr/>
                    <a:lstStyle/>
                    <a:p>
                      <a:pPr algn="ctr"/>
                      <a:r>
                        <a:rPr sz="2200" b="0">
                          <a:solidFill>
                            <a:srgbClr val="202428"/>
                          </a:solidFill>
                          <a:latin typeface="Liberation Sans"/>
                        </a:rPr>
                        <a:t>0.374</a:t>
                      </a:r>
                    </a:p>
                  </a:txBody>
                  <a:tcPr marL="109728" marR="109728" marT="54864" marB="54864" anchor="ctr">
                    <a:solidFill>
                      <a:srgbClr val="EDF2F6"/>
                    </a:solidFill>
                  </a:tcPr>
                </a:tc>
              </a:tr>
            </a:tbl>
          </a:graphicData>
        </a:graphic>
      </p:graphicFrame>
      <p:sp>
        <p:nvSpPr>
          <p:cNvPr id="9" name="TextBox 8"/>
          <p:cNvSpPr txBox="1"/>
          <p:nvPr/>
        </p:nvSpPr>
        <p:spPr>
          <a:xfrm>
            <a:off x="786384" y="4462272"/>
            <a:ext cx="10698480" cy="1554480"/>
          </a:xfrm>
          <a:prstGeom prst="rect">
            <a:avLst/>
          </a:prstGeom>
          <a:noFill/>
        </p:spPr>
        <p:txBody>
          <a:bodyPr wrap="square" lIns="22860" rIns="22860" tIns="22860" bIns="22860">
            <a:spAutoFit/>
          </a:bodyPr>
          <a:lstStyle/>
          <a:p>
            <a:pPr>
              <a:lnSpc>
                <a:spcPct val="112000"/>
              </a:lnSpc>
              <a:spcBef>
                <a:spcPts val="0"/>
              </a:spcBef>
              <a:spcAft>
                <a:spcPts val="1200"/>
              </a:spcAft>
            </a:pPr>
            <a:r>
              <a:rPr sz="2100" b="0">
                <a:solidFill>
                  <a:srgbClr val="315F82"/>
                </a:solidFill>
                <a:latin typeface="Liberation Sans"/>
              </a:rPr>
              <a:t>Paired difference +0.0017   |   seven-dataset TOST p = 0.0023</a:t>
            </a:r>
          </a:p>
          <a:p>
            <a:pPr>
              <a:lnSpc>
                <a:spcPct val="112000"/>
              </a:lnSpc>
              <a:spcBef>
                <a:spcPts val="0"/>
              </a:spcBef>
              <a:spcAft>
                <a:spcPts val="1200"/>
              </a:spcAft>
            </a:pPr>
            <a:r>
              <a:rPr sz="2100" b="0">
                <a:solidFill>
                  <a:srgbClr val="315F82"/>
                </a:solidFill>
                <a:latin typeface="Liberation Sans"/>
              </a:rPr>
              <a:t>Seven-dataset 90% t interval [-0.0064, +0.0098]</a:t>
            </a:r>
          </a:p>
          <a:p>
            <a:pPr>
              <a:lnSpc>
                <a:spcPct val="112000"/>
              </a:lnSpc>
              <a:spcBef>
                <a:spcPts val="0"/>
              </a:spcBef>
              <a:spcAft>
                <a:spcPts val="1200"/>
              </a:spcAft>
            </a:pPr>
            <a:r>
              <a:rPr sz="2100" b="0">
                <a:solidFill>
                  <a:srgbClr val="315F82"/>
                </a:solidFill>
                <a:latin typeface="Liberation Sans"/>
              </a:rPr>
              <a:t>14-cell sensitivity: p = 0.0007, 90% t interval [-0.0063, +0.0097]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315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109960" cy="640080"/>
          </a:xfrm>
          <a:prstGeom prst="rect">
            <a:avLst/>
          </a:prstGeom>
          <a:noFill/>
        </p:spPr>
        <p:txBody>
          <a:bodyPr wrap="square" lIns="22860" rIns="22860" tIns="22860" bIns="22860">
            <a:spAutoFit/>
          </a:bodyPr>
          <a:lstStyle/>
          <a:p>
            <a:pPr>
              <a:lnSpc>
                <a:spcPct val="112000"/>
              </a:lnSpc>
              <a:spcBef>
                <a:spcPts val="0"/>
              </a:spcBef>
              <a:spcAft>
                <a:spcPts val="1200"/>
              </a:spcAft>
            </a:pPr>
            <a:r>
              <a:rPr sz="3000" b="1">
                <a:solidFill>
                  <a:srgbClr val="202428"/>
                </a:solidFill>
                <a:latin typeface="Liberation Sans"/>
              </a:rPr>
              <a:t>Task heterogeneity remains visible</a:t>
            </a:r>
          </a:p>
        </p:txBody>
      </p:sp>
      <p:sp>
        <p:nvSpPr>
          <p:cNvPr id="4" name="TextBox 3"/>
          <p:cNvSpPr txBox="1"/>
          <p:nvPr/>
        </p:nvSpPr>
        <p:spPr>
          <a:xfrm>
            <a:off x="530352" y="996696"/>
            <a:ext cx="11018520" cy="530352"/>
          </a:xfrm>
          <a:prstGeom prst="rect">
            <a:avLst/>
          </a:prstGeom>
          <a:noFill/>
        </p:spPr>
        <p:txBody>
          <a:bodyPr wrap="square" lIns="22860" rIns="22860" tIns="22860" bIns="22860">
            <a:spAutoFit/>
          </a:bodyPr>
          <a:lstStyle/>
          <a:p>
            <a:pPr>
              <a:lnSpc>
                <a:spcPct val="112000"/>
              </a:lnSpc>
              <a:spcBef>
                <a:spcPts val="0"/>
              </a:spcBef>
              <a:spcAft>
                <a:spcPts val="1200"/>
              </a:spcAft>
            </a:pPr>
            <a:r>
              <a:rPr sz="1700" b="0">
                <a:solidFill>
                  <a:srgbClr val="535F6B"/>
                </a:solidFill>
                <a:latin typeface="Liberation Sans"/>
              </a:rPr>
              <a:t>An average-equivalence result can contain gains and losses by task.</a:t>
            </a:r>
          </a:p>
        </p:txBody>
      </p:sp>
      <p:sp>
        <p:nvSpPr>
          <p:cNvPr id="5" name="TextBox 4"/>
          <p:cNvSpPr txBox="1"/>
          <p:nvPr/>
        </p:nvSpPr>
        <p:spPr>
          <a:xfrm>
            <a:off x="530352" y="6190488"/>
            <a:ext cx="10789920" cy="32004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Source: tost/expand_v2_sensitivity.json · Python-generated paper forest plot</a:t>
            </a:r>
          </a:p>
        </p:txBody>
      </p:sp>
      <p:sp>
        <p:nvSpPr>
          <p:cNvPr id="6" name="TextBox 5"/>
          <p:cNvSpPr txBox="1"/>
          <p:nvPr/>
        </p:nvSpPr>
        <p:spPr>
          <a:xfrm>
            <a:off x="530352" y="6537960"/>
            <a:ext cx="10515600" cy="210312"/>
          </a:xfrm>
          <a:prstGeom prst="rect">
            <a:avLst/>
          </a:prstGeom>
          <a:noFill/>
        </p:spPr>
        <p:txBody>
          <a:bodyPr wrap="square" lIns="22860" rIns="22860" tIns="22860" bIns="22860">
            <a:spAutoFit/>
          </a:bodyPr>
          <a:lstStyle/>
          <a:p>
            <a:pPr>
              <a:lnSpc>
                <a:spcPct val="112000"/>
              </a:lnSpc>
              <a:spcBef>
                <a:spcPts val="0"/>
              </a:spcBef>
              <a:spcAft>
                <a:spcPts val="1200"/>
              </a:spcAft>
            </a:pPr>
            <a:r>
              <a:rPr sz="1000" b="0">
                <a:solidFill>
                  <a:srgbClr val="535F6B"/>
                </a:solidFill>
                <a:latin typeface="Liberation Sans"/>
              </a:rPr>
              <a:t>D2AI @ IEEE ICDM 2026  |  DM2158</a:t>
            </a:r>
          </a:p>
        </p:txBody>
      </p:sp>
      <p:sp>
        <p:nvSpPr>
          <p:cNvPr id="7" name="TextBox 6"/>
          <p:cNvSpPr txBox="1"/>
          <p:nvPr/>
        </p:nvSpPr>
        <p:spPr>
          <a:xfrm>
            <a:off x="11155680" y="6510528"/>
            <a:ext cx="548640" cy="27432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10</a:t>
            </a:r>
          </a:p>
        </p:txBody>
      </p:sp>
      <p:pic>
        <p:nvPicPr>
          <p:cNvPr id="8" name="Picture 7" descr="fig_cell_forest.png"/>
          <p:cNvPicPr>
            <a:picLocks noChangeAspect="1"/>
          </p:cNvPicPr>
          <p:nvPr/>
        </p:nvPicPr>
        <p:blipFill>
          <a:blip r:embed="rId3"/>
          <a:stretch>
            <a:fillRect/>
          </a:stretch>
        </p:blipFill>
        <p:spPr>
          <a:xfrm>
            <a:off x="3021861" y="1627632"/>
            <a:ext cx="6117796" cy="43434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315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109960" cy="640080"/>
          </a:xfrm>
          <a:prstGeom prst="rect">
            <a:avLst/>
          </a:prstGeom>
          <a:noFill/>
        </p:spPr>
        <p:txBody>
          <a:bodyPr wrap="square" lIns="22860" rIns="22860" tIns="22860" bIns="22860">
            <a:spAutoFit/>
          </a:bodyPr>
          <a:lstStyle/>
          <a:p>
            <a:pPr>
              <a:lnSpc>
                <a:spcPct val="112000"/>
              </a:lnSpc>
              <a:spcBef>
                <a:spcPts val="0"/>
              </a:spcBef>
              <a:spcAft>
                <a:spcPts val="1200"/>
              </a:spcAft>
            </a:pPr>
            <a:r>
              <a:rPr sz="3000" b="1">
                <a:solidFill>
                  <a:srgbClr val="202428"/>
                </a:solidFill>
                <a:latin typeface="Liberation Sans"/>
              </a:rPr>
              <a:t>Physical storage falls; total memory falls much less</a:t>
            </a:r>
          </a:p>
        </p:txBody>
      </p:sp>
      <p:sp>
        <p:nvSpPr>
          <p:cNvPr id="4" name="TextBox 3"/>
          <p:cNvSpPr txBox="1"/>
          <p:nvPr/>
        </p:nvSpPr>
        <p:spPr>
          <a:xfrm>
            <a:off x="530352" y="996696"/>
            <a:ext cx="11018520" cy="530352"/>
          </a:xfrm>
          <a:prstGeom prst="rect">
            <a:avLst/>
          </a:prstGeom>
          <a:noFill/>
        </p:spPr>
        <p:txBody>
          <a:bodyPr wrap="square" lIns="22860" rIns="22860" tIns="22860" bIns="22860">
            <a:spAutoFit/>
          </a:bodyPr>
          <a:lstStyle/>
          <a:p>
            <a:pPr>
              <a:lnSpc>
                <a:spcPct val="112000"/>
              </a:lnSpc>
              <a:spcBef>
                <a:spcPts val="0"/>
              </a:spcBef>
              <a:spcAft>
                <a:spcPts val="1200"/>
              </a:spcAft>
            </a:pPr>
            <a:r>
              <a:rPr sz="1700" b="0">
                <a:solidFill>
                  <a:srgbClr val="535F6B"/>
                </a:solidFill>
                <a:latin typeface="Liberation Sans"/>
              </a:rPr>
              <a:t>A separate eager, single-request reference backend at 20% block budget</a:t>
            </a:r>
          </a:p>
        </p:txBody>
      </p:sp>
      <p:sp>
        <p:nvSpPr>
          <p:cNvPr id="5" name="TextBox 4"/>
          <p:cNvSpPr txBox="1"/>
          <p:nvPr/>
        </p:nvSpPr>
        <p:spPr>
          <a:xfrm>
            <a:off x="530352" y="6190488"/>
            <a:ext cx="10789920" cy="32004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Source: physical_kv/{llama3.1-v1,qwen25-v1}/summary.json · paper Table III</a:t>
            </a:r>
          </a:p>
        </p:txBody>
      </p:sp>
      <p:sp>
        <p:nvSpPr>
          <p:cNvPr id="6" name="TextBox 5"/>
          <p:cNvSpPr txBox="1"/>
          <p:nvPr/>
        </p:nvSpPr>
        <p:spPr>
          <a:xfrm>
            <a:off x="530352" y="6537960"/>
            <a:ext cx="10515600" cy="210312"/>
          </a:xfrm>
          <a:prstGeom prst="rect">
            <a:avLst/>
          </a:prstGeom>
          <a:noFill/>
        </p:spPr>
        <p:txBody>
          <a:bodyPr wrap="square" lIns="22860" rIns="22860" tIns="22860" bIns="22860">
            <a:spAutoFit/>
          </a:bodyPr>
          <a:lstStyle/>
          <a:p>
            <a:pPr>
              <a:lnSpc>
                <a:spcPct val="112000"/>
              </a:lnSpc>
              <a:spcBef>
                <a:spcPts val="0"/>
              </a:spcBef>
              <a:spcAft>
                <a:spcPts val="1200"/>
              </a:spcAft>
            </a:pPr>
            <a:r>
              <a:rPr sz="1000" b="0">
                <a:solidFill>
                  <a:srgbClr val="535F6B"/>
                </a:solidFill>
                <a:latin typeface="Liberation Sans"/>
              </a:rPr>
              <a:t>D2AI @ IEEE ICDM 2026  |  DM2158</a:t>
            </a:r>
          </a:p>
        </p:txBody>
      </p:sp>
      <p:sp>
        <p:nvSpPr>
          <p:cNvPr id="7" name="TextBox 6"/>
          <p:cNvSpPr txBox="1"/>
          <p:nvPr/>
        </p:nvSpPr>
        <p:spPr>
          <a:xfrm>
            <a:off x="11155680" y="6510528"/>
            <a:ext cx="548640" cy="27432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11</a:t>
            </a:r>
          </a:p>
        </p:txBody>
      </p:sp>
      <p:graphicFrame>
        <p:nvGraphicFramePr>
          <p:cNvPr id="8" name="Table 7"/>
          <p:cNvGraphicFramePr>
            <a:graphicFrameLocks noGrp="1"/>
          </p:cNvGraphicFramePr>
          <p:nvPr/>
        </p:nvGraphicFramePr>
        <p:xfrm>
          <a:off x="640080" y="1874519"/>
          <a:ext cx="10835640" cy="2276856"/>
        </p:xfrm>
        <a:graphic>
          <a:graphicData uri="http://schemas.openxmlformats.org/drawingml/2006/table">
            <a:tbl>
              <a:tblPr firstRow="1" bandRow="1">
                <a:tableStyleId>{5C22544A-7EE6-4342-B048-85BDC9FD1C3A}</a:tableStyleId>
              </a:tblPr>
              <a:tblGrid>
                <a:gridCol w="3429000"/>
                <a:gridCol w="3566160"/>
                <a:gridCol w="3840480"/>
              </a:tblGrid>
              <a:tr h="758952">
                <a:tc>
                  <a:txBody>
                    <a:bodyPr/>
                    <a:lstStyle/>
                    <a:p>
                      <a:pPr algn="l"/>
                      <a:r>
                        <a:rPr sz="2200" b="1">
                          <a:solidFill>
                            <a:srgbClr val="FFFFFF"/>
                          </a:solidFill>
                          <a:latin typeface="Liberation Sans"/>
                        </a:rPr>
                        <a:t>Model</a:t>
                      </a:r>
                    </a:p>
                  </a:txBody>
                  <a:tcPr marL="109728" marR="109728" marT="54864" marB="54864" anchor="ctr">
                    <a:solidFill>
                      <a:srgbClr val="315F82"/>
                    </a:solidFill>
                  </a:tcPr>
                </a:tc>
                <a:tc>
                  <a:txBody>
                    <a:bodyPr/>
                    <a:lstStyle/>
                    <a:p>
                      <a:pPr algn="ctr"/>
                      <a:r>
                        <a:rPr sz="2200" b="1">
                          <a:solidFill>
                            <a:srgbClr val="FFFFFF"/>
                          </a:solidFill>
                          <a:latin typeface="Liberation Sans"/>
                        </a:rPr>
                        <a:t>Stored KV (MiB)</a:t>
                      </a:r>
                    </a:p>
                  </a:txBody>
                  <a:tcPr marL="109728" marR="109728" marT="54864" marB="54864" anchor="ctr">
                    <a:solidFill>
                      <a:srgbClr val="315F82"/>
                    </a:solidFill>
                  </a:tcPr>
                </a:tc>
                <a:tc>
                  <a:txBody>
                    <a:bodyPr/>
                    <a:lstStyle/>
                    <a:p>
                      <a:pPr algn="ctr"/>
                      <a:r>
                        <a:rPr sz="2200" b="1">
                          <a:solidFill>
                            <a:srgbClr val="FFFFFF"/>
                          </a:solidFill>
                          <a:latin typeface="Liberation Sans"/>
                        </a:rPr>
                        <a:t>Decode peak (GiB)</a:t>
                      </a:r>
                    </a:p>
                  </a:txBody>
                  <a:tcPr marL="109728" marR="109728" marT="54864" marB="54864" anchor="ctr">
                    <a:solidFill>
                      <a:srgbClr val="315F82"/>
                    </a:solidFill>
                  </a:tcPr>
                </a:tc>
              </a:tr>
              <a:tr h="758952">
                <a:tc>
                  <a:txBody>
                    <a:bodyPr/>
                    <a:lstStyle/>
                    <a:p>
                      <a:pPr algn="l"/>
                      <a:r>
                        <a:rPr sz="2200" b="0">
                          <a:solidFill>
                            <a:srgbClr val="202428"/>
                          </a:solidFill>
                          <a:latin typeface="Liberation Sans"/>
                        </a:rPr>
                        <a:t>Llama bf16</a:t>
                      </a:r>
                    </a:p>
                  </a:txBody>
                  <a:tcPr marL="109728" marR="109728" marT="54864" marB="54864" anchor="ctr">
                    <a:solidFill>
                      <a:srgbClr val="EDF2F6"/>
                    </a:solidFill>
                  </a:tcPr>
                </a:tc>
                <a:tc>
                  <a:txBody>
                    <a:bodyPr/>
                    <a:lstStyle/>
                    <a:p>
                      <a:pPr algn="ctr"/>
                      <a:r>
                        <a:rPr sz="2200" b="0">
                          <a:solidFill>
                            <a:srgbClr val="202428"/>
                          </a:solidFill>
                          <a:latin typeface="Liberation Sans"/>
                        </a:rPr>
                        <a:t>496 → 94</a:t>
                      </a:r>
                    </a:p>
                  </a:txBody>
                  <a:tcPr marL="109728" marR="109728" marT="54864" marB="54864" anchor="ctr">
                    <a:solidFill>
                      <a:srgbClr val="EDF2F6"/>
                    </a:solidFill>
                  </a:tcPr>
                </a:tc>
                <a:tc>
                  <a:txBody>
                    <a:bodyPr/>
                    <a:lstStyle/>
                    <a:p>
                      <a:pPr algn="ctr"/>
                      <a:r>
                        <a:rPr sz="2200" b="0">
                          <a:solidFill>
                            <a:srgbClr val="202428"/>
                          </a:solidFill>
                          <a:latin typeface="Liberation Sans"/>
                        </a:rPr>
                        <a:t>15.51 → 15.10</a:t>
                      </a:r>
                    </a:p>
                  </a:txBody>
                  <a:tcPr marL="109728" marR="109728" marT="54864" marB="54864" anchor="ctr">
                    <a:solidFill>
                      <a:srgbClr val="EDF2F6"/>
                    </a:solidFill>
                  </a:tcPr>
                </a:tc>
              </a:tr>
              <a:tr h="758952">
                <a:tc>
                  <a:txBody>
                    <a:bodyPr/>
                    <a:lstStyle/>
                    <a:p>
                      <a:pPr algn="l"/>
                      <a:r>
                        <a:rPr sz="2200" b="0">
                          <a:solidFill>
                            <a:srgbClr val="202428"/>
                          </a:solidFill>
                          <a:latin typeface="Liberation Sans"/>
                        </a:rPr>
                        <a:t>Qwen fp32</a:t>
                      </a:r>
                    </a:p>
                  </a:txBody>
                  <a:tcPr marL="109728" marR="109728" marT="54864" marB="54864" anchor="ctr">
                    <a:solidFill>
                      <a:srgbClr val="FFFFFF"/>
                    </a:solidFill>
                  </a:tcPr>
                </a:tc>
                <a:tc>
                  <a:txBody>
                    <a:bodyPr/>
                    <a:lstStyle/>
                    <a:p>
                      <a:pPr algn="ctr"/>
                      <a:r>
                        <a:rPr sz="2200" b="0">
                          <a:solidFill>
                            <a:srgbClr val="202428"/>
                          </a:solidFill>
                          <a:latin typeface="Liberation Sans"/>
                        </a:rPr>
                        <a:t>434 → 82</a:t>
                      </a:r>
                    </a:p>
                  </a:txBody>
                  <a:tcPr marL="109728" marR="109728" marT="54864" marB="54864" anchor="ctr">
                    <a:solidFill>
                      <a:srgbClr val="FFFFFF"/>
                    </a:solidFill>
                  </a:tcPr>
                </a:tc>
                <a:tc>
                  <a:txBody>
                    <a:bodyPr/>
                    <a:lstStyle/>
                    <a:p>
                      <a:pPr algn="ctr"/>
                      <a:r>
                        <a:rPr sz="2200" b="0">
                          <a:solidFill>
                            <a:srgbClr val="202428"/>
                          </a:solidFill>
                          <a:latin typeface="Liberation Sans"/>
                        </a:rPr>
                        <a:t>29.05 → 28.63</a:t>
                      </a:r>
                    </a:p>
                  </a:txBody>
                  <a:tcPr marL="109728" marR="109728" marT="54864" marB="54864" anchor="ctr">
                    <a:solidFill>
                      <a:srgbClr val="FFFFFF"/>
                    </a:solidFill>
                  </a:tcPr>
                </a:tc>
              </a:tr>
            </a:tbl>
          </a:graphicData>
        </a:graphic>
      </p:graphicFrame>
      <p:sp>
        <p:nvSpPr>
          <p:cNvPr id="9" name="TextBox 8"/>
          <p:cNvSpPr txBox="1"/>
          <p:nvPr/>
        </p:nvSpPr>
        <p:spPr>
          <a:xfrm>
            <a:off x="795528" y="4590288"/>
            <a:ext cx="10607040" cy="1280160"/>
          </a:xfrm>
          <a:prstGeom prst="rect">
            <a:avLst/>
          </a:prstGeom>
          <a:noFill/>
        </p:spPr>
        <p:txBody>
          <a:bodyPr wrap="square" lIns="22860" rIns="22860" tIns="22860" bIns="22860">
            <a:spAutoFit/>
          </a:bodyPr>
          <a:lstStyle/>
          <a:p>
            <a:pPr>
              <a:lnSpc>
                <a:spcPct val="112000"/>
              </a:lnSpc>
              <a:spcBef>
                <a:spcPts val="0"/>
              </a:spcBef>
              <a:spcAft>
                <a:spcPts val="1200"/>
              </a:spcAft>
            </a:pPr>
            <a:r>
              <a:rPr sz="2300" b="0">
                <a:solidFill>
                  <a:srgbClr val="8C1D1D"/>
                </a:solidFill>
                <a:latin typeface="Liberation Sans"/>
              </a:rPr>
              <a:t>Extended mask/physical parity exceeds the preset numerical tolerance.</a:t>
            </a:r>
          </a:p>
          <a:p>
            <a:pPr>
              <a:lnSpc>
                <a:spcPct val="112000"/>
              </a:lnSpc>
              <a:spcBef>
                <a:spcPts val="0"/>
              </a:spcBef>
              <a:spcAft>
                <a:spcPts val="1200"/>
              </a:spcAft>
            </a:pPr>
            <a:r>
              <a:rPr sz="2300" b="0">
                <a:solidFill>
                  <a:srgbClr val="8C1D1D"/>
                </a:solidFill>
                <a:latin typeface="Liberation Sans"/>
              </a:rPr>
              <a:t>No production TPOT, concurrency or throughput conclusion follows.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315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109960" cy="640080"/>
          </a:xfrm>
          <a:prstGeom prst="rect">
            <a:avLst/>
          </a:prstGeom>
          <a:noFill/>
        </p:spPr>
        <p:txBody>
          <a:bodyPr wrap="square" lIns="22860" rIns="22860" tIns="22860" bIns="22860">
            <a:spAutoFit/>
          </a:bodyPr>
          <a:lstStyle/>
          <a:p>
            <a:pPr>
              <a:lnSpc>
                <a:spcPct val="112000"/>
              </a:lnSpc>
              <a:spcBef>
                <a:spcPts val="0"/>
              </a:spcBef>
              <a:spcAft>
                <a:spcPts val="1200"/>
              </a:spcAft>
            </a:pPr>
            <a:r>
              <a:rPr sz="3000" b="1">
                <a:solidFill>
                  <a:srgbClr val="202428"/>
                </a:solidFill>
                <a:latin typeface="Liberation Sans"/>
              </a:rPr>
              <a:t>Query evidence is scoped to the tested controls</a:t>
            </a:r>
          </a:p>
        </p:txBody>
      </p:sp>
      <p:sp>
        <p:nvSpPr>
          <p:cNvPr id="4" name="TextBox 3"/>
          <p:cNvSpPr txBox="1"/>
          <p:nvPr/>
        </p:nvSpPr>
        <p:spPr>
          <a:xfrm>
            <a:off x="530352" y="996696"/>
            <a:ext cx="11018520" cy="530352"/>
          </a:xfrm>
          <a:prstGeom prst="rect">
            <a:avLst/>
          </a:prstGeom>
          <a:noFill/>
        </p:spPr>
        <p:txBody>
          <a:bodyPr wrap="square" lIns="22860" rIns="22860" tIns="22860" bIns="22860">
            <a:spAutoFit/>
          </a:bodyPr>
          <a:lstStyle/>
          <a:p>
            <a:pPr>
              <a:lnSpc>
                <a:spcPct val="112000"/>
              </a:lnSpc>
              <a:spcBef>
                <a:spcPts val="0"/>
              </a:spcBef>
              <a:spcAft>
                <a:spcPts val="1200"/>
              </a:spcAft>
            </a:pPr>
            <a:r>
              <a:rPr sz="1700" b="0">
                <a:solidFill>
                  <a:srgbClr val="535F6B"/>
                </a:solidFill>
                <a:latin typeface="Liberation Sans"/>
              </a:rPr>
              <a:t>Phase-aligned dot-max is a probe; it is not Quest's page-bound algorithm.</a:t>
            </a:r>
          </a:p>
        </p:txBody>
      </p:sp>
      <p:sp>
        <p:nvSpPr>
          <p:cNvPr id="5" name="TextBox 4"/>
          <p:cNvSpPr txBox="1"/>
          <p:nvPr/>
        </p:nvSpPr>
        <p:spPr>
          <a:xfrm>
            <a:off x="530352" y="6190488"/>
            <a:ext cx="10789920" cy="32004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Source: physical_kv/*/summary.json / query_v2 · paper §IX</a:t>
            </a:r>
          </a:p>
        </p:txBody>
      </p:sp>
      <p:sp>
        <p:nvSpPr>
          <p:cNvPr id="6" name="TextBox 5"/>
          <p:cNvSpPr txBox="1"/>
          <p:nvPr/>
        </p:nvSpPr>
        <p:spPr>
          <a:xfrm>
            <a:off x="530352" y="6537960"/>
            <a:ext cx="10515600" cy="210312"/>
          </a:xfrm>
          <a:prstGeom prst="rect">
            <a:avLst/>
          </a:prstGeom>
          <a:noFill/>
        </p:spPr>
        <p:txBody>
          <a:bodyPr wrap="square" lIns="22860" rIns="22860" tIns="22860" bIns="22860">
            <a:spAutoFit/>
          </a:bodyPr>
          <a:lstStyle/>
          <a:p>
            <a:pPr>
              <a:lnSpc>
                <a:spcPct val="112000"/>
              </a:lnSpc>
              <a:spcBef>
                <a:spcPts val="0"/>
              </a:spcBef>
              <a:spcAft>
                <a:spcPts val="1200"/>
              </a:spcAft>
            </a:pPr>
            <a:r>
              <a:rPr sz="1000" b="0">
                <a:solidFill>
                  <a:srgbClr val="535F6B"/>
                </a:solidFill>
                <a:latin typeface="Liberation Sans"/>
              </a:rPr>
              <a:t>D2AI @ IEEE ICDM 2026  |  DM2158</a:t>
            </a:r>
          </a:p>
        </p:txBody>
      </p:sp>
      <p:sp>
        <p:nvSpPr>
          <p:cNvPr id="7" name="TextBox 6"/>
          <p:cNvSpPr txBox="1"/>
          <p:nvPr/>
        </p:nvSpPr>
        <p:spPr>
          <a:xfrm>
            <a:off x="11155680" y="6510528"/>
            <a:ext cx="548640" cy="27432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12</a:t>
            </a:r>
          </a:p>
        </p:txBody>
      </p:sp>
      <p:graphicFrame>
        <p:nvGraphicFramePr>
          <p:cNvPr id="8" name="Table 7"/>
          <p:cNvGraphicFramePr>
            <a:graphicFrameLocks noGrp="1"/>
          </p:cNvGraphicFramePr>
          <p:nvPr/>
        </p:nvGraphicFramePr>
        <p:xfrm>
          <a:off x="640080" y="1956816"/>
          <a:ext cx="10835640" cy="2359152"/>
        </p:xfrm>
        <a:graphic>
          <a:graphicData uri="http://schemas.openxmlformats.org/drawingml/2006/table">
            <a:tbl>
              <a:tblPr firstRow="1" bandRow="1">
                <a:tableStyleId>{5C22544A-7EE6-4342-B048-85BDC9FD1C3A}</a:tableStyleId>
              </a:tblPr>
              <a:tblGrid>
                <a:gridCol w="5669280"/>
                <a:gridCol w="5166360"/>
              </a:tblGrid>
              <a:tr h="786384">
                <a:tc>
                  <a:txBody>
                    <a:bodyPr/>
                    <a:lstStyle/>
                    <a:p>
                      <a:pPr algn="l"/>
                      <a:r>
                        <a:rPr sz="2400" b="1">
                          <a:solidFill>
                            <a:srgbClr val="FFFFFF"/>
                          </a:solidFill>
                          <a:latin typeface="Liberation Sans"/>
                        </a:rPr>
                        <a:t>Model</a:t>
                      </a:r>
                    </a:p>
                  </a:txBody>
                  <a:tcPr marL="109728" marR="109728" marT="54864" marB="54864" anchor="ctr">
                    <a:solidFill>
                      <a:srgbClr val="315F82"/>
                    </a:solidFill>
                  </a:tcPr>
                </a:tc>
                <a:tc>
                  <a:txBody>
                    <a:bodyPr/>
                    <a:lstStyle/>
                    <a:p>
                      <a:pPr algn="ctr"/>
                      <a:r>
                        <a:rPr sz="2400" b="1">
                          <a:solidFill>
                            <a:srgbClr val="FFFFFF"/>
                          </a:solidFill>
                          <a:latin typeface="Liberation Sans"/>
                        </a:rPr>
                        <a:t>Request-mean AUC change</a:t>
                      </a:r>
                    </a:p>
                  </a:txBody>
                  <a:tcPr marL="109728" marR="109728" marT="54864" marB="54864" anchor="ctr">
                    <a:solidFill>
                      <a:srgbClr val="315F82"/>
                    </a:solidFill>
                  </a:tcPr>
                </a:tc>
              </a:tr>
              <a:tr h="786384">
                <a:tc>
                  <a:txBody>
                    <a:bodyPr/>
                    <a:lstStyle/>
                    <a:p>
                      <a:pPr algn="l"/>
                      <a:r>
                        <a:rPr sz="2400" b="0">
                          <a:solidFill>
                            <a:srgbClr val="202428"/>
                          </a:solidFill>
                          <a:latin typeface="Liberation Sans"/>
                        </a:rPr>
                        <a:t>Llama-3.1-8B</a:t>
                      </a:r>
                    </a:p>
                  </a:txBody>
                  <a:tcPr marL="109728" marR="109728" marT="54864" marB="54864" anchor="ctr">
                    <a:solidFill>
                      <a:srgbClr val="EDF2F6"/>
                    </a:solidFill>
                  </a:tcPr>
                </a:tc>
                <a:tc>
                  <a:txBody>
                    <a:bodyPr/>
                    <a:lstStyle/>
                    <a:p>
                      <a:pPr algn="ctr"/>
                      <a:r>
                        <a:rPr sz="2400" b="0">
                          <a:solidFill>
                            <a:srgbClr val="202428"/>
                          </a:solidFill>
                          <a:latin typeface="Liberation Sans"/>
                        </a:rPr>
                        <a:t>-0.0070</a:t>
                      </a:r>
                    </a:p>
                  </a:txBody>
                  <a:tcPr marL="109728" marR="109728" marT="54864" marB="54864" anchor="ctr">
                    <a:solidFill>
                      <a:srgbClr val="EDF2F6"/>
                    </a:solidFill>
                  </a:tcPr>
                </a:tc>
              </a:tr>
              <a:tr h="786384">
                <a:tc>
                  <a:txBody>
                    <a:bodyPr/>
                    <a:lstStyle/>
                    <a:p>
                      <a:pPr algn="l"/>
                      <a:r>
                        <a:rPr sz="2400" b="0">
                          <a:solidFill>
                            <a:srgbClr val="202428"/>
                          </a:solidFill>
                          <a:latin typeface="Liberation Sans"/>
                        </a:rPr>
                        <a:t>Qwen2.5-7B</a:t>
                      </a:r>
                    </a:p>
                  </a:txBody>
                  <a:tcPr marL="109728" marR="109728" marT="54864" marB="54864" anchor="ctr">
                    <a:solidFill>
                      <a:srgbClr val="FFFFFF"/>
                    </a:solidFill>
                  </a:tcPr>
                </a:tc>
                <a:tc>
                  <a:txBody>
                    <a:bodyPr/>
                    <a:lstStyle/>
                    <a:p>
                      <a:pPr algn="ctr"/>
                      <a:r>
                        <a:rPr sz="2400" b="0">
                          <a:solidFill>
                            <a:srgbClr val="202428"/>
                          </a:solidFill>
                          <a:latin typeface="Liberation Sans"/>
                        </a:rPr>
                        <a:t>+0.0020</a:t>
                      </a:r>
                    </a:p>
                  </a:txBody>
                  <a:tcPr marL="109728" marR="109728" marT="54864" marB="54864" anchor="ctr">
                    <a:solidFill>
                      <a:srgbClr val="FFFFFF"/>
                    </a:solidFill>
                  </a:tcPr>
                </a:tc>
              </a:tr>
            </a:tbl>
          </a:graphicData>
        </a:graphic>
      </p:graphicFrame>
      <p:sp>
        <p:nvSpPr>
          <p:cNvPr id="9" name="Rectangle 8"/>
          <p:cNvSpPr/>
          <p:nvPr/>
        </p:nvSpPr>
        <p:spPr>
          <a:xfrm>
            <a:off x="548640" y="5321808"/>
            <a:ext cx="11064240" cy="71323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31536"/>
            <a:ext cx="10698480" cy="521207"/>
          </a:xfrm>
          <a:prstGeom prst="rect">
            <a:avLst/>
          </a:prstGeom>
          <a:noFill/>
        </p:spPr>
        <p:txBody>
          <a:bodyPr wrap="square" lIns="22860" rIns="22860" tIns="22860" bIns="22860">
            <a:spAutoFit/>
          </a:bodyPr>
          <a:lstStyle/>
          <a:p>
            <a:pPr>
              <a:lnSpc>
                <a:spcPct val="112000"/>
              </a:lnSpc>
              <a:spcBef>
                <a:spcPts val="0"/>
              </a:spcBef>
              <a:spcAft>
                <a:spcPts val="1200"/>
              </a:spcAft>
            </a:pPr>
            <a:r>
              <a:rPr sz="2100" b="1">
                <a:solidFill>
                  <a:srgbClr val="315F82"/>
                </a:solidFill>
                <a:latin typeface="Liberation Sans"/>
              </a:rPr>
              <a:t>No extrapolation to MoE, base models, ≥32K contexts or sampling.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315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109960" cy="640080"/>
          </a:xfrm>
          <a:prstGeom prst="rect">
            <a:avLst/>
          </a:prstGeom>
          <a:noFill/>
        </p:spPr>
        <p:txBody>
          <a:bodyPr wrap="square" lIns="22860" rIns="22860" tIns="22860" bIns="22860">
            <a:spAutoFit/>
          </a:bodyPr>
          <a:lstStyle/>
          <a:p>
            <a:pPr>
              <a:lnSpc>
                <a:spcPct val="112000"/>
              </a:lnSpc>
              <a:spcBef>
                <a:spcPts val="0"/>
              </a:spcBef>
              <a:spcAft>
                <a:spcPts val="1200"/>
              </a:spcAft>
            </a:pPr>
            <a:r>
              <a:rPr sz="3000" b="1">
                <a:solidFill>
                  <a:srgbClr val="202428"/>
                </a:solidFill>
                <a:latin typeface="Liberation Sans"/>
              </a:rPr>
              <a:t>A benchmark contribution to data systems for AI</a:t>
            </a:r>
          </a:p>
        </p:txBody>
      </p:sp>
      <p:sp>
        <p:nvSpPr>
          <p:cNvPr id="4" name="TextBox 3"/>
          <p:cNvSpPr txBox="1"/>
          <p:nvPr/>
        </p:nvSpPr>
        <p:spPr>
          <a:xfrm>
            <a:off x="530352" y="996696"/>
            <a:ext cx="11018520" cy="530352"/>
          </a:xfrm>
          <a:prstGeom prst="rect">
            <a:avLst/>
          </a:prstGeom>
          <a:noFill/>
        </p:spPr>
        <p:txBody>
          <a:bodyPr wrap="square" lIns="22860" rIns="22860" tIns="22860" bIns="22860">
            <a:spAutoFit/>
          </a:bodyPr>
          <a:lstStyle/>
          <a:p>
            <a:pPr>
              <a:lnSpc>
                <a:spcPct val="112000"/>
              </a:lnSpc>
              <a:spcBef>
                <a:spcPts val="0"/>
              </a:spcBef>
              <a:spcAft>
                <a:spcPts val="1200"/>
              </a:spcAft>
            </a:pPr>
            <a:r>
              <a:rPr sz="1700" b="0">
                <a:solidFill>
                  <a:srgbClr val="535F6B"/>
                </a:solidFill>
                <a:latin typeface="Liberation Sans"/>
              </a:rPr>
              <a:t>Versioned collection, provenance and explicit evaluation contracts</a:t>
            </a:r>
          </a:p>
        </p:txBody>
      </p:sp>
      <p:sp>
        <p:nvSpPr>
          <p:cNvPr id="5" name="TextBox 4"/>
          <p:cNvSpPr txBox="1"/>
          <p:nvPr/>
        </p:nvSpPr>
        <p:spPr>
          <a:xfrm>
            <a:off x="530352" y="6190488"/>
            <a:ext cx="10789920" cy="32004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Code and paper: github.com/lzbaclz/KVSalienceBench · corresponding author: chenjx@hust.edu.cn</a:t>
            </a:r>
          </a:p>
        </p:txBody>
      </p:sp>
      <p:sp>
        <p:nvSpPr>
          <p:cNvPr id="6" name="TextBox 5"/>
          <p:cNvSpPr txBox="1"/>
          <p:nvPr/>
        </p:nvSpPr>
        <p:spPr>
          <a:xfrm>
            <a:off x="530352" y="6537960"/>
            <a:ext cx="10515600" cy="210312"/>
          </a:xfrm>
          <a:prstGeom prst="rect">
            <a:avLst/>
          </a:prstGeom>
          <a:noFill/>
        </p:spPr>
        <p:txBody>
          <a:bodyPr wrap="square" lIns="22860" rIns="22860" tIns="22860" bIns="22860">
            <a:spAutoFit/>
          </a:bodyPr>
          <a:lstStyle/>
          <a:p>
            <a:pPr>
              <a:lnSpc>
                <a:spcPct val="112000"/>
              </a:lnSpc>
              <a:spcBef>
                <a:spcPts val="0"/>
              </a:spcBef>
              <a:spcAft>
                <a:spcPts val="1200"/>
              </a:spcAft>
            </a:pPr>
            <a:r>
              <a:rPr sz="1000" b="0">
                <a:solidFill>
                  <a:srgbClr val="535F6B"/>
                </a:solidFill>
                <a:latin typeface="Liberation Sans"/>
              </a:rPr>
              <a:t>D2AI @ IEEE ICDM 2026  |  DM2158</a:t>
            </a:r>
          </a:p>
        </p:txBody>
      </p:sp>
      <p:sp>
        <p:nvSpPr>
          <p:cNvPr id="7" name="TextBox 6"/>
          <p:cNvSpPr txBox="1"/>
          <p:nvPr/>
        </p:nvSpPr>
        <p:spPr>
          <a:xfrm>
            <a:off x="11155680" y="6510528"/>
            <a:ext cx="548640" cy="274320"/>
          </a:xfrm>
          <a:prstGeom prst="rect">
            <a:avLst/>
          </a:prstGeom>
          <a:noFill/>
        </p:spPr>
        <p:txBody>
          <a:bodyPr wrap="square" lIns="22860" rIns="22860" tIns="22860" bIns="22860">
            <a:spAutoFit/>
          </a:bodyPr>
          <a:lstStyle/>
          <a:p>
            <a:pPr>
              <a:lnSpc>
                <a:spcPct val="112000"/>
              </a:lnSpc>
              <a:spcBef>
                <a:spcPts val="0"/>
              </a:spcBef>
              <a:spcAft>
                <a:spcPts val="1200"/>
              </a:spcAft>
            </a:pPr>
            <a:r>
              <a:rPr sz="1100" b="0">
                <a:solidFill>
                  <a:srgbClr val="535F6B"/>
                </a:solidFill>
                <a:latin typeface="Liberation Sans"/>
              </a:rPr>
              <a:t>13</a:t>
            </a:r>
          </a:p>
        </p:txBody>
      </p:sp>
      <p:sp>
        <p:nvSpPr>
          <p:cNvPr id="8" name="TextBox 7"/>
          <p:cNvSpPr txBox="1"/>
          <p:nvPr/>
        </p:nvSpPr>
        <p:spPr>
          <a:xfrm>
            <a:off x="795528" y="1920240"/>
            <a:ext cx="10607040" cy="3291840"/>
          </a:xfrm>
          <a:prstGeom prst="rect">
            <a:avLst/>
          </a:prstGeom>
          <a:noFill/>
        </p:spPr>
        <p:txBody>
          <a:bodyPr wrap="square" lIns="22860" rIns="22860" tIns="22860" bIns="22860">
            <a:spAutoFit/>
          </a:bodyPr>
          <a:lstStyle/>
          <a:p>
            <a:pPr>
              <a:lnSpc>
                <a:spcPct val="112000"/>
              </a:lnSpc>
              <a:spcBef>
                <a:spcPts val="0"/>
              </a:spcBef>
              <a:spcAft>
                <a:spcPts val="1200"/>
              </a:spcAft>
            </a:pPr>
            <a:r>
              <a:rPr sz="2500" b="0">
                <a:solidFill>
                  <a:srgbClr val="202428"/>
                </a:solidFill>
                <a:latin typeface="Liberation Sans"/>
              </a:rPr>
              <a:t>1. Evaluate scores under the policy's decision budget.</a:t>
            </a:r>
          </a:p>
          <a:p>
            <a:pPr>
              <a:lnSpc>
                <a:spcPct val="112000"/>
              </a:lnSpc>
              <a:spcBef>
                <a:spcPts val="0"/>
              </a:spcBef>
              <a:spcAft>
                <a:spcPts val="1200"/>
              </a:spcAft>
            </a:pPr>
            <a:r>
              <a:rPr sz="2500" b="0">
                <a:solidFill>
                  <a:srgbClr val="202428"/>
                </a:solidFill>
                <a:latin typeface="Liberation Sans"/>
              </a:rPr>
              <a:t>2. Specify feature reconstruction and selector semantics.</a:t>
            </a:r>
          </a:p>
          <a:p>
            <a:pPr>
              <a:lnSpc>
                <a:spcPct val="112000"/>
              </a:lnSpc>
              <a:spcBef>
                <a:spcPts val="0"/>
              </a:spcBef>
              <a:spcAft>
                <a:spcPts val="1200"/>
              </a:spcAft>
            </a:pPr>
            <a:r>
              <a:rPr sz="2500" b="0">
                <a:solidFill>
                  <a:srgbClr val="202428"/>
                </a:solidFill>
                <a:latin typeface="Liberation Sans"/>
              </a:rPr>
              <a:t>3. Separate answer quality, physical storage and serving cost.</a:t>
            </a:r>
          </a:p>
          <a:p>
            <a:pPr>
              <a:lnSpc>
                <a:spcPct val="112000"/>
              </a:lnSpc>
              <a:spcBef>
                <a:spcPts val="0"/>
              </a:spcBef>
              <a:spcAft>
                <a:spcPts val="1200"/>
              </a:spcAft>
            </a:pPr>
            <a:r>
              <a:rPr sz="2500" b="0">
                <a:solidFill>
                  <a:srgbClr val="202428"/>
                </a:solidFill>
                <a:latin typeface="Liberation Sans"/>
              </a:rPr>
              <a:t>4. Preserve provenance and report the limits of each experiment.</a:t>
            </a:r>
          </a:p>
        </p:txBody>
      </p:sp>
      <p:sp>
        <p:nvSpPr>
          <p:cNvPr id="9" name="Rectangle 8"/>
          <p:cNvSpPr/>
          <p:nvPr/>
        </p:nvSpPr>
        <p:spPr>
          <a:xfrm>
            <a:off x="548640" y="5321808"/>
            <a:ext cx="11064240" cy="713232"/>
          </a:xfrm>
          <a:prstGeom prst="rect">
            <a:avLst/>
          </a:prstGeom>
          <a:solidFill>
            <a:srgbClr val="ED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31536"/>
            <a:ext cx="10698480" cy="521207"/>
          </a:xfrm>
          <a:prstGeom prst="rect">
            <a:avLst/>
          </a:prstGeom>
          <a:noFill/>
        </p:spPr>
        <p:txBody>
          <a:bodyPr wrap="square" lIns="22860" rIns="22860" tIns="22860" bIns="22860">
            <a:spAutoFit/>
          </a:bodyPr>
          <a:lstStyle/>
          <a:p>
            <a:pPr>
              <a:lnSpc>
                <a:spcPct val="112000"/>
              </a:lnSpc>
              <a:spcBef>
                <a:spcPts val="0"/>
              </a:spcBef>
              <a:spcAft>
                <a:spcPts val="1200"/>
              </a:spcAft>
            </a:pPr>
            <a:r>
              <a:rPr sz="2100" b="1">
                <a:solidFill>
                  <a:srgbClr val="315F82"/>
                </a:solidFill>
                <a:latin typeface="Liberation Sans"/>
              </a:rPr>
              <a:t>The default protocol scores pooled and per-decision metrics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