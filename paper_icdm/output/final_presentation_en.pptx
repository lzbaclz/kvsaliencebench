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as a measurement audit and benchmark. We study whether a predictor's ranking metric matches the selector's budget and answer-quality objective. No production serving speedup is claimed.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separates full-cache offline prediction, a pinned masking loop, and a physical reference. Rows do not imply identical prompt cohorts or execution semantics. The physical reference has different mandatory blocks, budget rules and re-admission behavior. The figure was authored as editable draw.io cells and exported by draw.io.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128 LongBench QA prompts are collected for each model. Corrected collection aligns queries after RoPE, consumes the prefill-predicted token and generates real lookahead. There are 256 model-requests, not 256 independent source prompts. The source-prompt split holds out the same 32 prompts in both models. Raw traces and model weights are obtained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refit logistic scorer has three parameters. LightGBM's 150 is a tree count. These are offline fixed-trace comparisons, not a measure of runtime F1. The logistic scorer is close to, but measurably below, LightGBM; this is not an equivalence test.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top-decile operating point, the within-layer signal beats both learned scores on per-decision recall. At 20 percent retention the gap shrinks. Pooled ranking and decision-level budgets should be evaluated separately; the downstream study is a separate experiment and not a causal explanation of this reversal.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two-view logistic scorer has ECE 0.006 in v2. Unweighted and isotonic-recalibrated GBDT have ECE 0.005 and 0.003. Thus the class-balanced tree's poor calibration does not establish a family-level disadvantage. The 0.003 belongs to isotonic GBDT here, not the old MLP headline. The query proxy relevance does not certify query redundancy.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rows use the frozen two-view checkpoint. A and B score the same full-cache rows with different feature realizations. C uses runtime features on retained candidates along its own policy trajectory. C jointly changes candidates and trajectory, so it does not isolate feedback. These request-mean AUCs differ in corpus, aggregation and numerics from the historical 0.948-to-0.643 comparison.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runtime reconstruction, not the offline predictor. The two architectures answer the same source questions. We therefore report both 14 model–dataset cells and seven dataset clusters. The two-point margin was specified before the rerun comparison, but was not preregistered. It is a practical tolerance, not a deployment threshold. The masked loop allows re-admission and does not release physical KV storage.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unrounded paired difference, not a difference of rounded table entries. The 90 percent t interval belongs to the 14-cell analysis. Seven-dataset clustering gives p=0.0023 at the same two-point margin. This is mean equivalence in these tasks, not equivalence for every task, no compression loss, or serving superiority. Allocation comparators are H2O-relative comparisons and not transitive equivalence claims.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Points are learned-minus-H2O-style F1 differences within model–dataset cells, with 64 paired requests and 95 percent t intervals. The pooled diamond uses a 90 percent interval over 14 cell means. The shaded band is the two-point equivalence margin. Do not infer taskwise equivalence from the pooled diamond.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values refer to the H2O-style accumulator under matched irreversible eligibility. Llama uses bfloat16 and Qwen uses float32. Full prefill remains uncompressed. Short gates pass, but extended teacher-schedule tests exceed the numerical tolerance. Storage reduction is measured; exact long-run mask/physical equivalence and production throughput are not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old collector mixed pre-RoPE queries and post-RoPE cached keys, and its producer was unpinned. We withdraw the faithful-Quest reading. Corrected controls have opposite signs on the two models, so a pooled near-zero should not be read as intrinsic query redundancy. The synthetic needle result is a negative control. The tested cohort cannot support MoE, base-model, 32K-or-longer or sampled-decoding generalization.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reproducible measurement contribution. The artifact contains code, immutable experiment records, a pinned MIT-licensed simulator bundle, tests, editable draw.io source and Python chart sources. Model weights, raw traces and source datasets are obtained separately. Point readers to the repository and DOI recorded in CITATION.cff once the release is published. Do not call a pending DOI a completed archive.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Mining Attention Dynamics</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Auditing KV-Saliency Prediction in LLMs</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Camera-ready companion · version-2 main evidence</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1</a:t>
            </a:r>
          </a:p>
        </p:txBody>
      </p:sp>
      <p:sp>
        <p:nvSpPr>
          <p:cNvPr id="8" name="TextBox 7"/>
          <p:cNvSpPr txBox="1"/>
          <p:nvPr/>
        </p:nvSpPr>
        <p:spPr>
          <a:xfrm>
            <a:off x="777240" y="1828800"/>
            <a:ext cx="10698480" cy="1737360"/>
          </a:xfrm>
          <a:prstGeom prst="rect">
            <a:avLst/>
          </a:prstGeom>
          <a:noFill/>
        </p:spPr>
        <p:txBody>
          <a:bodyPr wrap="square" lIns="22860" rIns="22860" tIns="22860" bIns="22860">
            <a:spAutoFit/>
          </a:bodyPr>
          <a:lstStyle/>
          <a:p>
            <a:pPr>
              <a:lnSpc>
                <a:spcPct val="112000"/>
              </a:lnSpc>
              <a:spcBef>
                <a:spcPts val="0"/>
              </a:spcBef>
              <a:spcAft>
                <a:spcPts val="1200"/>
              </a:spcAft>
            </a:pPr>
            <a:r>
              <a:rPr sz="3500" b="1">
                <a:solidFill>
                  <a:srgbClr val="315F82"/>
                </a:solidFill>
                <a:latin typeface="Liberation Sans"/>
              </a:rPr>
              <a:t>Evaluate the prediction under</a:t>
            </a:r>
          </a:p>
          <a:p>
            <a:pPr>
              <a:lnSpc>
                <a:spcPct val="112000"/>
              </a:lnSpc>
              <a:spcBef>
                <a:spcPts val="0"/>
              </a:spcBef>
              <a:spcAft>
                <a:spcPts val="1200"/>
              </a:spcAft>
            </a:pPr>
            <a:r>
              <a:rPr sz="3500" b="1">
                <a:solidFill>
                  <a:srgbClr val="315F82"/>
                </a:solidFill>
                <a:latin typeface="Liberation Sans"/>
              </a:rPr>
              <a:t>the decision that will use it.</a:t>
            </a:r>
          </a:p>
        </p:txBody>
      </p:sp>
      <p:sp>
        <p:nvSpPr>
          <p:cNvPr id="9" name="TextBox 8"/>
          <p:cNvSpPr txBox="1"/>
          <p:nvPr/>
        </p:nvSpPr>
        <p:spPr>
          <a:xfrm>
            <a:off x="795528" y="3840480"/>
            <a:ext cx="10515600" cy="548640"/>
          </a:xfrm>
          <a:prstGeom prst="rect">
            <a:avLst/>
          </a:prstGeom>
          <a:noFill/>
        </p:spPr>
        <p:txBody>
          <a:bodyPr wrap="square" lIns="22860" rIns="22860" tIns="22860" bIns="22860">
            <a:spAutoFit/>
          </a:bodyPr>
          <a:lstStyle/>
          <a:p>
            <a:pPr>
              <a:lnSpc>
                <a:spcPct val="112000"/>
              </a:lnSpc>
              <a:spcBef>
                <a:spcPts val="0"/>
              </a:spcBef>
              <a:spcAft>
                <a:spcPts val="1200"/>
              </a:spcAft>
            </a:pPr>
            <a:r>
              <a:rPr sz="2200" b="0">
                <a:solidFill>
                  <a:srgbClr val="202428"/>
                </a:solidFill>
                <a:latin typeface="Liberation Sans"/>
              </a:rPr>
              <a:t>Ziqing Li · Jiawei Guo · Kaicheng Tang · Jianxi Chen</a:t>
            </a:r>
          </a:p>
        </p:txBody>
      </p:sp>
      <p:sp>
        <p:nvSpPr>
          <p:cNvPr id="10" name="TextBox 9"/>
          <p:cNvSpPr txBox="1"/>
          <p:nvPr/>
        </p:nvSpPr>
        <p:spPr>
          <a:xfrm>
            <a:off x="795528" y="4507992"/>
            <a:ext cx="10607040" cy="502920"/>
          </a:xfrm>
          <a:prstGeom prst="rect">
            <a:avLst/>
          </a:prstGeom>
          <a:noFill/>
        </p:spPr>
        <p:txBody>
          <a:bodyPr wrap="square" lIns="22860" rIns="22860" tIns="22860" bIns="22860">
            <a:spAutoFit/>
          </a:bodyPr>
          <a:lstStyle/>
          <a:p>
            <a:pPr>
              <a:lnSpc>
                <a:spcPct val="112000"/>
              </a:lnSpc>
              <a:spcBef>
                <a:spcPts val="0"/>
              </a:spcBef>
              <a:spcAft>
                <a:spcPts val="1200"/>
              </a:spcAft>
            </a:pPr>
            <a:r>
              <a:rPr sz="1800" b="0">
                <a:solidFill>
                  <a:srgbClr val="535F6B"/>
                </a:solidFill>
                <a:latin typeface="Liberation Sans"/>
              </a:rPr>
              <a:t>HUST · Beihang University · The Chinese University of Hong Kong</a:t>
            </a:r>
          </a:p>
        </p:txBody>
      </p:sp>
      <p:sp>
        <p:nvSpPr>
          <p:cNvPr id="11" name="TextBox 10"/>
          <p:cNvSpPr txBox="1"/>
          <p:nvPr/>
        </p:nvSpPr>
        <p:spPr>
          <a:xfrm>
            <a:off x="795528" y="5166360"/>
            <a:ext cx="10424160" cy="457200"/>
          </a:xfrm>
          <a:prstGeom prst="rect">
            <a:avLst/>
          </a:prstGeom>
          <a:noFill/>
        </p:spPr>
        <p:txBody>
          <a:bodyPr wrap="square" lIns="22860" rIns="22860" tIns="22860" bIns="22860">
            <a:spAutoFit/>
          </a:bodyPr>
          <a:lstStyle/>
          <a:p>
            <a:pPr>
              <a:lnSpc>
                <a:spcPct val="112000"/>
              </a:lnSpc>
              <a:spcBef>
                <a:spcPts val="0"/>
              </a:spcBef>
              <a:spcAft>
                <a:spcPts val="1200"/>
              </a:spcAft>
            </a:pPr>
            <a:r>
              <a:rPr sz="1800" b="0">
                <a:solidFill>
                  <a:srgbClr val="535F6B"/>
                </a:solidFill>
                <a:latin typeface="Liberation Sans"/>
              </a:rPr>
              <a:t>Corresponding author: Jianxi Chen · chenjx@hust.edu.cn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Three paths, three evaluation objects</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Feature realization and selector semantics are explicit in the protocol.</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Paper §II and Table I · editable source: evaluation_paths.drawio</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2</a:t>
            </a:r>
          </a:p>
        </p:txBody>
      </p:sp>
      <p:pic>
        <p:nvPicPr>
          <p:cNvPr id="8" name="Picture 7" descr="evaluation_paths.png"/>
          <p:cNvPicPr>
            <a:picLocks noChangeAspect="1"/>
          </p:cNvPicPr>
          <p:nvPr/>
        </p:nvPicPr>
        <p:blipFill>
          <a:blip r:embed="rId3"/>
          <a:stretch>
            <a:fillRect/>
          </a:stretch>
        </p:blipFill>
        <p:spPr>
          <a:xfrm>
            <a:off x="2554752" y="1673352"/>
            <a:ext cx="7052014" cy="3474720"/>
          </a:xfrm>
          <a:prstGeom prst="rect">
            <a:avLst/>
          </a:prstGeom>
        </p:spPr>
      </p:pic>
      <p:sp>
        <p:nvSpPr>
          <p:cNvPr id="9" name="Rectangle 8"/>
          <p:cNvSpPr/>
          <p:nvPr/>
        </p:nvSpPr>
        <p:spPr>
          <a:xfrm>
            <a:off x="548640" y="5321808"/>
            <a:ext cx="11064240" cy="713232"/>
          </a:xfrm>
          <a:prstGeom prst="rect">
            <a:avLst/>
          </a:prstGeom>
          <a:solidFill>
            <a:srgbClr val="ED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431536"/>
            <a:ext cx="10698480" cy="521207"/>
          </a:xfrm>
          <a:prstGeom prst="rect">
            <a:avLst/>
          </a:prstGeom>
          <a:noFill/>
        </p:spPr>
        <p:txBody>
          <a:bodyPr wrap="square" lIns="22860" rIns="22860" tIns="22860" bIns="22860">
            <a:spAutoFit/>
          </a:bodyPr>
          <a:lstStyle/>
          <a:p>
            <a:pPr>
              <a:lnSpc>
                <a:spcPct val="112000"/>
              </a:lnSpc>
              <a:spcBef>
                <a:spcPts val="0"/>
              </a:spcBef>
              <a:spcAft>
                <a:spcPts val="1200"/>
              </a:spcAft>
            </a:pPr>
            <a:r>
              <a:rPr sz="2100" b="1">
                <a:solidFill>
                  <a:srgbClr val="315F82"/>
                </a:solidFill>
                <a:latin typeface="Liberation Sans"/>
              </a:rPr>
              <a:t>Logical retention and physical KV storage require separate measurements.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Versioned data supports the offline comparison</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Main offline corpus: Llama-3.1-8B-Instruct and Qwen2.5-7B-Instruct</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icdm_v2.json · paper §V-A</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3</a:t>
            </a:r>
          </a:p>
        </p:txBody>
      </p:sp>
      <p:graphicFrame>
        <p:nvGraphicFramePr>
          <p:cNvPr id="8" name="Table 7"/>
          <p:cNvGraphicFramePr>
            <a:graphicFrameLocks noGrp="1"/>
          </p:cNvGraphicFramePr>
          <p:nvPr/>
        </p:nvGraphicFramePr>
        <p:xfrm>
          <a:off x="640080" y="1755648"/>
          <a:ext cx="10835640" cy="3511296"/>
        </p:xfrm>
        <a:graphic>
          <a:graphicData uri="http://schemas.openxmlformats.org/drawingml/2006/table">
            <a:tbl>
              <a:tblPr firstRow="1" bandRow="1">
                <a:tableStyleId>{5C22544A-7EE6-4342-B048-85BDC9FD1C3A}</a:tableStyleId>
              </a:tblPr>
              <a:tblGrid>
                <a:gridCol w="5029200"/>
                <a:gridCol w="5806440"/>
              </a:tblGrid>
              <a:tr h="585216">
                <a:tc>
                  <a:txBody>
                    <a:bodyPr/>
                    <a:lstStyle/>
                    <a:p>
                      <a:pPr algn="l"/>
                      <a:r>
                        <a:rPr sz="2100" b="1">
                          <a:solidFill>
                            <a:srgbClr val="FFFFFF"/>
                          </a:solidFill>
                          <a:latin typeface="Liberation Sans"/>
                        </a:rPr>
                        <a:t>Protocol component</a:t>
                      </a:r>
                    </a:p>
                  </a:txBody>
                  <a:tcPr marL="109728" marR="109728" marT="54864" marB="54864" anchor="ctr">
                    <a:solidFill>
                      <a:srgbClr val="315F82"/>
                    </a:solidFill>
                  </a:tcPr>
                </a:tc>
                <a:tc>
                  <a:txBody>
                    <a:bodyPr/>
                    <a:lstStyle/>
                    <a:p>
                      <a:pPr algn="ctr"/>
                      <a:r>
                        <a:rPr sz="2100" b="1">
                          <a:solidFill>
                            <a:srgbClr val="FFFFFF"/>
                          </a:solidFill>
                          <a:latin typeface="Liberation Sans"/>
                        </a:rPr>
                        <a:t>Version 2</a:t>
                      </a:r>
                    </a:p>
                  </a:txBody>
                  <a:tcPr marL="109728" marR="109728" marT="54864" marB="54864" anchor="ctr">
                    <a:solidFill>
                      <a:srgbClr val="315F82"/>
                    </a:solidFill>
                  </a:tcPr>
                </a:tc>
              </a:tr>
              <a:tr h="585216">
                <a:tc>
                  <a:txBody>
                    <a:bodyPr/>
                    <a:lstStyle/>
                    <a:p>
                      <a:pPr algn="l"/>
                      <a:r>
                        <a:rPr sz="2100" b="0">
                          <a:solidFill>
                            <a:srgbClr val="202428"/>
                          </a:solidFill>
                          <a:latin typeface="Liberation Sans"/>
                        </a:rPr>
                        <a:t>Labeled rows</a:t>
                      </a:r>
                    </a:p>
                  </a:txBody>
                  <a:tcPr marL="109728" marR="109728" marT="54864" marB="54864" anchor="ctr">
                    <a:solidFill>
                      <a:srgbClr val="EDF2F6"/>
                    </a:solidFill>
                  </a:tcPr>
                </a:tc>
                <a:tc>
                  <a:txBody>
                    <a:bodyPr/>
                    <a:lstStyle/>
                    <a:p>
                      <a:pPr algn="ctr"/>
                      <a:r>
                        <a:rPr sz="2100" b="0">
                          <a:solidFill>
                            <a:srgbClr val="202428"/>
                          </a:solidFill>
                          <a:latin typeface="Liberation Sans"/>
                        </a:rPr>
                        <a:t>30,445,332</a:t>
                      </a:r>
                    </a:p>
                  </a:txBody>
                  <a:tcPr marL="109728" marR="109728" marT="54864" marB="54864" anchor="ctr">
                    <a:solidFill>
                      <a:srgbClr val="EDF2F6"/>
                    </a:solidFill>
                  </a:tcPr>
                </a:tc>
              </a:tr>
              <a:tr h="585216">
                <a:tc>
                  <a:txBody>
                    <a:bodyPr/>
                    <a:lstStyle/>
                    <a:p>
                      <a:pPr algn="l"/>
                      <a:r>
                        <a:rPr sz="2100" b="0">
                          <a:solidFill>
                            <a:srgbClr val="202428"/>
                          </a:solidFill>
                          <a:latin typeface="Liberation Sans"/>
                        </a:rPr>
                        <a:t>Source prompts / model-requests</a:t>
                      </a:r>
                    </a:p>
                  </a:txBody>
                  <a:tcPr marL="109728" marR="109728" marT="54864" marB="54864" anchor="ctr">
                    <a:solidFill>
                      <a:srgbClr val="FFFFFF"/>
                    </a:solidFill>
                  </a:tcPr>
                </a:tc>
                <a:tc>
                  <a:txBody>
                    <a:bodyPr/>
                    <a:lstStyle/>
                    <a:p>
                      <a:pPr algn="ctr"/>
                      <a:r>
                        <a:rPr sz="2100" b="0">
                          <a:solidFill>
                            <a:srgbClr val="202428"/>
                          </a:solidFill>
                          <a:latin typeface="Liberation Sans"/>
                        </a:rPr>
                        <a:t>128 / 256</a:t>
                      </a:r>
                    </a:p>
                  </a:txBody>
                  <a:tcPr marL="109728" marR="109728" marT="54864" marB="54864" anchor="ctr">
                    <a:solidFill>
                      <a:srgbClr val="FFFFFF"/>
                    </a:solidFill>
                  </a:tcPr>
                </a:tc>
              </a:tr>
              <a:tr h="585216">
                <a:tc>
                  <a:txBody>
                    <a:bodyPr/>
                    <a:lstStyle/>
                    <a:p>
                      <a:pPr algn="l"/>
                      <a:r>
                        <a:rPr sz="2100" b="0">
                          <a:solidFill>
                            <a:srgbClr val="202428"/>
                          </a:solidFill>
                          <a:latin typeface="Liberation Sans"/>
                        </a:rPr>
                        <a:t>Training / held-out sampled rows</a:t>
                      </a:r>
                    </a:p>
                  </a:txBody>
                  <a:tcPr marL="109728" marR="109728" marT="54864" marB="54864" anchor="ctr">
                    <a:solidFill>
                      <a:srgbClr val="EDF2F6"/>
                    </a:solidFill>
                  </a:tcPr>
                </a:tc>
                <a:tc>
                  <a:txBody>
                    <a:bodyPr/>
                    <a:lstStyle/>
                    <a:p>
                      <a:pPr algn="ctr"/>
                      <a:r>
                        <a:rPr sz="2100" b="0">
                          <a:solidFill>
                            <a:srgbClr val="202428"/>
                          </a:solidFill>
                          <a:latin typeface="Liberation Sans"/>
                        </a:rPr>
                        <a:t>120,000 / 150,000</a:t>
                      </a:r>
                    </a:p>
                  </a:txBody>
                  <a:tcPr marL="109728" marR="109728" marT="54864" marB="54864" anchor="ctr">
                    <a:solidFill>
                      <a:srgbClr val="EDF2F6"/>
                    </a:solidFill>
                  </a:tcPr>
                </a:tc>
              </a:tr>
              <a:tr h="585216">
                <a:tc>
                  <a:txBody>
                    <a:bodyPr/>
                    <a:lstStyle/>
                    <a:p>
                      <a:pPr algn="l"/>
                      <a:r>
                        <a:rPr sz="2100" b="0">
                          <a:solidFill>
                            <a:srgbClr val="202428"/>
                          </a:solidFill>
                          <a:latin typeface="Liberation Sans"/>
                        </a:rPr>
                        <a:t>Additional split control</a:t>
                      </a:r>
                    </a:p>
                  </a:txBody>
                  <a:tcPr marL="109728" marR="109728" marT="54864" marB="54864" anchor="ctr">
                    <a:solidFill>
                      <a:srgbClr val="FFFFFF"/>
                    </a:solidFill>
                  </a:tcPr>
                </a:tc>
                <a:tc>
                  <a:txBody>
                    <a:bodyPr/>
                    <a:lstStyle/>
                    <a:p>
                      <a:pPr algn="ctr"/>
                      <a:r>
                        <a:rPr sz="2100" b="0">
                          <a:solidFill>
                            <a:srgbClr val="202428"/>
                          </a:solidFill>
                          <a:latin typeface="Liberation Sans"/>
                        </a:rPr>
                        <a:t>Source-prompt disjoint</a:t>
                      </a:r>
                    </a:p>
                  </a:txBody>
                  <a:tcPr marL="109728" marR="109728" marT="54864" marB="54864" anchor="ctr">
                    <a:solidFill>
                      <a:srgbClr val="FFFFFF"/>
                    </a:solidFill>
                  </a:tcPr>
                </a:tc>
              </a:tr>
              <a:tr h="585216">
                <a:tc>
                  <a:txBody>
                    <a:bodyPr/>
                    <a:lstStyle/>
                    <a:p>
                      <a:pPr algn="l"/>
                      <a:r>
                        <a:rPr sz="2100" b="0">
                          <a:solidFill>
                            <a:srgbClr val="202428"/>
                          </a:solidFill>
                          <a:latin typeface="Liberation Sans"/>
                        </a:rPr>
                        <a:t>Collector corrections</a:t>
                      </a:r>
                    </a:p>
                  </a:txBody>
                  <a:tcPr marL="109728" marR="109728" marT="54864" marB="54864" anchor="ctr">
                    <a:solidFill>
                      <a:srgbClr val="EDF2F6"/>
                    </a:solidFill>
                  </a:tcPr>
                </a:tc>
                <a:tc>
                  <a:txBody>
                    <a:bodyPr/>
                    <a:lstStyle/>
                    <a:p>
                      <a:pPr algn="ctr"/>
                      <a:r>
                        <a:rPr sz="2100" b="0">
                          <a:solidFill>
                            <a:srgbClr val="202428"/>
                          </a:solidFill>
                          <a:latin typeface="Liberation Sans"/>
                        </a:rPr>
                        <a:t>RoPE alignment; real lookahead</a:t>
                      </a:r>
                    </a:p>
                  </a:txBody>
                  <a:tcPr marL="109728" marR="109728" marT="54864" marB="54864" anchor="ctr">
                    <a:solidFill>
                      <a:srgbClr val="EDF2F6"/>
                    </a:solidFill>
                  </a:tcPr>
                </a:tc>
              </a:tr>
            </a:tbl>
          </a:graphicData>
        </a:graphic>
      </p:graphicFrame>
      <p:sp>
        <p:nvSpPr>
          <p:cNvPr id="9" name="Rectangle 8"/>
          <p:cNvSpPr/>
          <p:nvPr/>
        </p:nvSpPr>
        <p:spPr>
          <a:xfrm>
            <a:off x="548640" y="5321808"/>
            <a:ext cx="11064240" cy="713232"/>
          </a:xfrm>
          <a:prstGeom prst="rect">
            <a:avLst/>
          </a:prstGeom>
          <a:solidFill>
            <a:srgbClr val="ED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431536"/>
            <a:ext cx="10698480" cy="521207"/>
          </a:xfrm>
          <a:prstGeom prst="rect">
            <a:avLst/>
          </a:prstGeom>
          <a:noFill/>
        </p:spPr>
        <p:txBody>
          <a:bodyPr wrap="square" lIns="22860" rIns="22860" tIns="22860" bIns="22860">
            <a:spAutoFit/>
          </a:bodyPr>
          <a:lstStyle/>
          <a:p>
            <a:pPr>
              <a:lnSpc>
                <a:spcPct val="112000"/>
              </a:lnSpc>
              <a:spcBef>
                <a:spcPts val="0"/>
              </a:spcBef>
              <a:spcAft>
                <a:spcPts val="1200"/>
              </a:spcAft>
            </a:pPr>
            <a:r>
              <a:rPr sz="2200" b="1">
                <a:solidFill>
                  <a:srgbClr val="315F82"/>
                </a:solidFill>
                <a:latin typeface="Liberation Sans"/>
              </a:rPr>
              <a:t>Request and source-prompt units matter more than the row count.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Pooled AUC favors the learned predictors</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Two features and one intercept give a compact offline scorer.</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icdm_v2.json / pooled_request_split.table · paper Table II</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4</a:t>
            </a:r>
          </a:p>
        </p:txBody>
      </p:sp>
      <p:graphicFrame>
        <p:nvGraphicFramePr>
          <p:cNvPr id="8" name="Table 7"/>
          <p:cNvGraphicFramePr>
            <a:graphicFrameLocks noGrp="1"/>
          </p:cNvGraphicFramePr>
          <p:nvPr/>
        </p:nvGraphicFramePr>
        <p:xfrm>
          <a:off x="640080" y="1984248"/>
          <a:ext cx="10835640" cy="2999232"/>
        </p:xfrm>
        <a:graphic>
          <a:graphicData uri="http://schemas.openxmlformats.org/drawingml/2006/table">
            <a:tbl>
              <a:tblPr firstRow="1" bandRow="1">
                <a:tableStyleId>{5C22544A-7EE6-4342-B048-85BDC9FD1C3A}</a:tableStyleId>
              </a:tblPr>
              <a:tblGrid>
                <a:gridCol w="5669280"/>
                <a:gridCol w="2560320"/>
                <a:gridCol w="2606040"/>
              </a:tblGrid>
              <a:tr h="749808">
                <a:tc>
                  <a:txBody>
                    <a:bodyPr/>
                    <a:lstStyle/>
                    <a:p>
                      <a:pPr algn="l"/>
                      <a:r>
                        <a:rPr sz="2400" b="1">
                          <a:solidFill>
                            <a:srgbClr val="FFFFFF"/>
                          </a:solidFill>
                          <a:latin typeface="Liberation Sans"/>
                        </a:rPr>
                        <a:t>Offline score</a:t>
                      </a:r>
                    </a:p>
                  </a:txBody>
                  <a:tcPr marL="109728" marR="109728" marT="54864" marB="54864" anchor="ctr">
                    <a:solidFill>
                      <a:srgbClr val="315F82"/>
                    </a:solidFill>
                  </a:tcPr>
                </a:tc>
                <a:tc>
                  <a:txBody>
                    <a:bodyPr/>
                    <a:lstStyle/>
                    <a:p>
                      <a:pPr algn="ctr"/>
                      <a:r>
                        <a:rPr sz="2400" b="1">
                          <a:solidFill>
                            <a:srgbClr val="FFFFFF"/>
                          </a:solidFill>
                          <a:latin typeface="Liberation Sans"/>
                        </a:rPr>
                        <a:t>Pooled AUC</a:t>
                      </a:r>
                    </a:p>
                  </a:txBody>
                  <a:tcPr marL="109728" marR="109728" marT="54864" marB="54864" anchor="ctr">
                    <a:solidFill>
                      <a:srgbClr val="315F82"/>
                    </a:solidFill>
                  </a:tcPr>
                </a:tc>
                <a:tc>
                  <a:txBody>
                    <a:bodyPr/>
                    <a:lstStyle/>
                    <a:p>
                      <a:pPr algn="ctr"/>
                      <a:r>
                        <a:rPr sz="2400" b="1">
                          <a:solidFill>
                            <a:srgbClr val="FFFFFF"/>
                          </a:solidFill>
                          <a:latin typeface="Liberation Sans"/>
                        </a:rPr>
                        <a:t>Pooled AP</a:t>
                      </a:r>
                    </a:p>
                  </a:txBody>
                  <a:tcPr marL="109728" marR="109728" marT="54864" marB="54864" anchor="ctr">
                    <a:solidFill>
                      <a:srgbClr val="315F82"/>
                    </a:solidFill>
                  </a:tcPr>
                </a:tc>
              </a:tr>
              <a:tr h="749808">
                <a:tc>
                  <a:txBody>
                    <a:bodyPr/>
                    <a:lstStyle/>
                    <a:p>
                      <a:pPr algn="l"/>
                      <a:r>
                        <a:rPr sz="2400" b="0">
                          <a:solidFill>
                            <a:srgbClr val="202428"/>
                          </a:solidFill>
                          <a:latin typeface="Liberation Sans"/>
                        </a:rPr>
                        <a:t>Within-layer EMA</a:t>
                      </a:r>
                    </a:p>
                  </a:txBody>
                  <a:tcPr marL="109728" marR="109728" marT="54864" marB="54864" anchor="ctr">
                    <a:solidFill>
                      <a:srgbClr val="EDF2F6"/>
                    </a:solidFill>
                  </a:tcPr>
                </a:tc>
                <a:tc>
                  <a:txBody>
                    <a:bodyPr/>
                    <a:lstStyle/>
                    <a:p>
                      <a:pPr algn="ctr"/>
                      <a:r>
                        <a:rPr sz="2400" b="0">
                          <a:solidFill>
                            <a:srgbClr val="202428"/>
                          </a:solidFill>
                          <a:latin typeface="Liberation Sans"/>
                        </a:rPr>
                        <a:t>0.873</a:t>
                      </a:r>
                    </a:p>
                  </a:txBody>
                  <a:tcPr marL="109728" marR="109728" marT="54864" marB="54864" anchor="ctr">
                    <a:solidFill>
                      <a:srgbClr val="EDF2F6"/>
                    </a:solidFill>
                  </a:tcPr>
                </a:tc>
                <a:tc>
                  <a:txBody>
                    <a:bodyPr/>
                    <a:lstStyle/>
                    <a:p>
                      <a:pPr algn="ctr"/>
                      <a:r>
                        <a:rPr sz="2400" b="0">
                          <a:solidFill>
                            <a:srgbClr val="202428"/>
                          </a:solidFill>
                          <a:latin typeface="Liberation Sans"/>
                        </a:rPr>
                        <a:t>0.609</a:t>
                      </a:r>
                    </a:p>
                  </a:txBody>
                  <a:tcPr marL="109728" marR="109728" marT="54864" marB="54864" anchor="ctr">
                    <a:solidFill>
                      <a:srgbClr val="EDF2F6"/>
                    </a:solidFill>
                  </a:tcPr>
                </a:tc>
              </a:tr>
              <a:tr h="749808">
                <a:tc>
                  <a:txBody>
                    <a:bodyPr/>
                    <a:lstStyle/>
                    <a:p>
                      <a:pPr algn="l"/>
                      <a:r>
                        <a:rPr sz="2400" b="0">
                          <a:solidFill>
                            <a:srgbClr val="202428"/>
                          </a:solidFill>
                          <a:latin typeface="Liberation Sans"/>
                        </a:rPr>
                        <a:t>Two-view logistic</a:t>
                      </a:r>
                    </a:p>
                  </a:txBody>
                  <a:tcPr marL="109728" marR="109728" marT="54864" marB="54864" anchor="ctr">
                    <a:solidFill>
                      <a:srgbClr val="FFFFFF"/>
                    </a:solidFill>
                  </a:tcPr>
                </a:tc>
                <a:tc>
                  <a:txBody>
                    <a:bodyPr/>
                    <a:lstStyle/>
                    <a:p>
                      <a:pPr algn="ctr"/>
                      <a:r>
                        <a:rPr sz="2400" b="0">
                          <a:solidFill>
                            <a:srgbClr val="202428"/>
                          </a:solidFill>
                          <a:latin typeface="Liberation Sans"/>
                        </a:rPr>
                        <a:t>0.890</a:t>
                      </a:r>
                    </a:p>
                  </a:txBody>
                  <a:tcPr marL="109728" marR="109728" marT="54864" marB="54864" anchor="ctr">
                    <a:solidFill>
                      <a:srgbClr val="FFFFFF"/>
                    </a:solidFill>
                  </a:tcPr>
                </a:tc>
                <a:tc>
                  <a:txBody>
                    <a:bodyPr/>
                    <a:lstStyle/>
                    <a:p>
                      <a:pPr algn="ctr"/>
                      <a:r>
                        <a:rPr sz="2400" b="0">
                          <a:solidFill>
                            <a:srgbClr val="202428"/>
                          </a:solidFill>
                          <a:latin typeface="Liberation Sans"/>
                        </a:rPr>
                        <a:t>0.667</a:t>
                      </a:r>
                    </a:p>
                  </a:txBody>
                  <a:tcPr marL="109728" marR="109728" marT="54864" marB="54864" anchor="ctr">
                    <a:solidFill>
                      <a:srgbClr val="FFFFFF"/>
                    </a:solidFill>
                  </a:tcPr>
                </a:tc>
              </a:tr>
              <a:tr h="749808">
                <a:tc>
                  <a:txBody>
                    <a:bodyPr/>
                    <a:lstStyle/>
                    <a:p>
                      <a:pPr algn="l"/>
                      <a:r>
                        <a:rPr sz="2400" b="0">
                          <a:solidFill>
                            <a:srgbClr val="202428"/>
                          </a:solidFill>
                          <a:latin typeface="Liberation Sans"/>
                        </a:rPr>
                        <a:t>LightGBM, balanced</a:t>
                      </a:r>
                    </a:p>
                  </a:txBody>
                  <a:tcPr marL="109728" marR="109728" marT="54864" marB="54864" anchor="ctr">
                    <a:solidFill>
                      <a:srgbClr val="EDF2F6"/>
                    </a:solidFill>
                  </a:tcPr>
                </a:tc>
                <a:tc>
                  <a:txBody>
                    <a:bodyPr/>
                    <a:lstStyle/>
                    <a:p>
                      <a:pPr algn="ctr"/>
                      <a:r>
                        <a:rPr sz="2400" b="0">
                          <a:solidFill>
                            <a:srgbClr val="202428"/>
                          </a:solidFill>
                          <a:latin typeface="Liberation Sans"/>
                        </a:rPr>
                        <a:t>0.896</a:t>
                      </a:r>
                    </a:p>
                  </a:txBody>
                  <a:tcPr marL="109728" marR="109728" marT="54864" marB="54864" anchor="ctr">
                    <a:solidFill>
                      <a:srgbClr val="EDF2F6"/>
                    </a:solidFill>
                  </a:tcPr>
                </a:tc>
                <a:tc>
                  <a:txBody>
                    <a:bodyPr/>
                    <a:lstStyle/>
                    <a:p>
                      <a:pPr algn="ctr"/>
                      <a:r>
                        <a:rPr sz="2400" b="0">
                          <a:solidFill>
                            <a:srgbClr val="202428"/>
                          </a:solidFill>
                          <a:latin typeface="Liberation Sans"/>
                        </a:rPr>
                        <a:t>0.674</a:t>
                      </a:r>
                    </a:p>
                  </a:txBody>
                  <a:tcPr marL="109728" marR="109728" marT="54864" marB="54864" anchor="ctr">
                    <a:solidFill>
                      <a:srgbClr val="EDF2F6"/>
                    </a:solidFill>
                  </a:tcPr>
                </a:tc>
              </a:tr>
            </a:tbl>
          </a:graphicData>
        </a:graphic>
      </p:graphicFrame>
      <p:sp>
        <p:nvSpPr>
          <p:cNvPr id="9" name="Rectangle 8"/>
          <p:cNvSpPr/>
          <p:nvPr/>
        </p:nvSpPr>
        <p:spPr>
          <a:xfrm>
            <a:off x="548640" y="5321808"/>
            <a:ext cx="11064240" cy="713232"/>
          </a:xfrm>
          <a:prstGeom prst="rect">
            <a:avLst/>
          </a:prstGeom>
          <a:solidFill>
            <a:srgbClr val="ED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431536"/>
            <a:ext cx="10698480" cy="521207"/>
          </a:xfrm>
          <a:prstGeom prst="rect">
            <a:avLst/>
          </a:prstGeom>
          <a:noFill/>
        </p:spPr>
        <p:txBody>
          <a:bodyPr wrap="square" lIns="22860" rIns="22860" tIns="22860" bIns="22860">
            <a:spAutoFit/>
          </a:bodyPr>
          <a:lstStyle/>
          <a:p>
            <a:pPr>
              <a:lnSpc>
                <a:spcPct val="112000"/>
              </a:lnSpc>
              <a:spcBef>
                <a:spcPts val="0"/>
              </a:spcBef>
              <a:spcAft>
                <a:spcPts val="1200"/>
              </a:spcAft>
            </a:pPr>
            <a:r>
              <a:rPr sz="2100" b="1">
                <a:solidFill>
                  <a:srgbClr val="315F82"/>
                </a:solidFill>
                <a:latin typeface="Liberation Sans"/>
              </a:rPr>
              <a:t>A pooled ranking does not enforce a separate budget at every 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The ordering changes under a decision budget</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Recall of the future top-decile blocks at each request × layer × step</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icdm_v2.json / r_at_10_grouped_macro · paper §V-A</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5</a:t>
            </a:r>
          </a:p>
        </p:txBody>
      </p:sp>
      <p:graphicFrame>
        <p:nvGraphicFramePr>
          <p:cNvPr id="8" name="Table 7"/>
          <p:cNvGraphicFramePr>
            <a:graphicFrameLocks noGrp="1"/>
          </p:cNvGraphicFramePr>
          <p:nvPr/>
        </p:nvGraphicFramePr>
        <p:xfrm>
          <a:off x="640080" y="1984248"/>
          <a:ext cx="10835639" cy="2999232"/>
        </p:xfrm>
        <a:graphic>
          <a:graphicData uri="http://schemas.openxmlformats.org/drawingml/2006/table">
            <a:tbl>
              <a:tblPr firstRow="1" bandRow="1">
                <a:tableStyleId>{5C22544A-7EE6-4342-B048-85BDC9FD1C3A}</a:tableStyleId>
              </a:tblPr>
              <a:tblGrid>
                <a:gridCol w="6858000"/>
                <a:gridCol w="3977639"/>
              </a:tblGrid>
              <a:tr h="749808">
                <a:tc>
                  <a:txBody>
                    <a:bodyPr/>
                    <a:lstStyle/>
                    <a:p>
                      <a:pPr algn="l"/>
                      <a:r>
                        <a:rPr sz="2400" b="1">
                          <a:solidFill>
                            <a:srgbClr val="FFFFFF"/>
                          </a:solidFill>
                          <a:latin typeface="Liberation Sans"/>
                        </a:rPr>
                        <a:t>Offline score</a:t>
                      </a:r>
                    </a:p>
                  </a:txBody>
                  <a:tcPr marL="109728" marR="109728" marT="54864" marB="54864" anchor="ctr">
                    <a:solidFill>
                      <a:srgbClr val="315F82"/>
                    </a:solidFill>
                  </a:tcPr>
                </a:tc>
                <a:tc>
                  <a:txBody>
                    <a:bodyPr/>
                    <a:lstStyle/>
                    <a:p>
                      <a:pPr algn="ctr"/>
                      <a:r>
                        <a:rPr sz="2400" b="1">
                          <a:solidFill>
                            <a:srgbClr val="FFFFFF"/>
                          </a:solidFill>
                          <a:latin typeface="Liberation Sans"/>
                        </a:rPr>
                        <a:t>Top-decile recall</a:t>
                      </a:r>
                    </a:p>
                  </a:txBody>
                  <a:tcPr marL="109728" marR="109728" marT="54864" marB="54864" anchor="ctr">
                    <a:solidFill>
                      <a:srgbClr val="315F82"/>
                    </a:solidFill>
                  </a:tcPr>
                </a:tc>
              </a:tr>
              <a:tr h="749808">
                <a:tc>
                  <a:txBody>
                    <a:bodyPr/>
                    <a:lstStyle/>
                    <a:p>
                      <a:pPr algn="l"/>
                      <a:r>
                        <a:rPr sz="2400" b="0">
                          <a:solidFill>
                            <a:srgbClr val="202428"/>
                          </a:solidFill>
                          <a:latin typeface="Liberation Sans"/>
                        </a:rPr>
                        <a:t>Within-layer EMA</a:t>
                      </a:r>
                    </a:p>
                  </a:txBody>
                  <a:tcPr marL="109728" marR="109728" marT="54864" marB="54864" anchor="ctr">
                    <a:solidFill>
                      <a:srgbClr val="EDF2F6"/>
                    </a:solidFill>
                  </a:tcPr>
                </a:tc>
                <a:tc>
                  <a:txBody>
                    <a:bodyPr/>
                    <a:lstStyle/>
                    <a:p>
                      <a:pPr algn="ctr"/>
                      <a:r>
                        <a:rPr sz="2400" b="0">
                          <a:solidFill>
                            <a:srgbClr val="202428"/>
                          </a:solidFill>
                          <a:latin typeface="Liberation Sans"/>
                        </a:rPr>
                        <a:t>0.659</a:t>
                      </a:r>
                    </a:p>
                  </a:txBody>
                  <a:tcPr marL="109728" marR="109728" marT="54864" marB="54864" anchor="ctr">
                    <a:solidFill>
                      <a:srgbClr val="EDF2F6"/>
                    </a:solidFill>
                  </a:tcPr>
                </a:tc>
              </a:tr>
              <a:tr h="749808">
                <a:tc>
                  <a:txBody>
                    <a:bodyPr/>
                    <a:lstStyle/>
                    <a:p>
                      <a:pPr algn="l"/>
                      <a:r>
                        <a:rPr sz="2400" b="0">
                          <a:solidFill>
                            <a:srgbClr val="202428"/>
                          </a:solidFill>
                          <a:latin typeface="Liberation Sans"/>
                        </a:rPr>
                        <a:t>Two-view logistic</a:t>
                      </a:r>
                    </a:p>
                  </a:txBody>
                  <a:tcPr marL="109728" marR="109728" marT="54864" marB="54864" anchor="ctr">
                    <a:solidFill>
                      <a:srgbClr val="FFFFFF"/>
                    </a:solidFill>
                  </a:tcPr>
                </a:tc>
                <a:tc>
                  <a:txBody>
                    <a:bodyPr/>
                    <a:lstStyle/>
                    <a:p>
                      <a:pPr algn="ctr"/>
                      <a:r>
                        <a:rPr sz="2400" b="0">
                          <a:solidFill>
                            <a:srgbClr val="202428"/>
                          </a:solidFill>
                          <a:latin typeface="Liberation Sans"/>
                        </a:rPr>
                        <a:t>0.613</a:t>
                      </a:r>
                    </a:p>
                  </a:txBody>
                  <a:tcPr marL="109728" marR="109728" marT="54864" marB="54864" anchor="ctr">
                    <a:solidFill>
                      <a:srgbClr val="FFFFFF"/>
                    </a:solidFill>
                  </a:tcPr>
                </a:tc>
              </a:tr>
              <a:tr h="749808">
                <a:tc>
                  <a:txBody>
                    <a:bodyPr/>
                    <a:lstStyle/>
                    <a:p>
                      <a:pPr algn="l"/>
                      <a:r>
                        <a:rPr sz="2400" b="0">
                          <a:solidFill>
                            <a:srgbClr val="202428"/>
                          </a:solidFill>
                          <a:latin typeface="Liberation Sans"/>
                        </a:rPr>
                        <a:t>LightGBM, balanced</a:t>
                      </a:r>
                    </a:p>
                  </a:txBody>
                  <a:tcPr marL="109728" marR="109728" marT="54864" marB="54864" anchor="ctr">
                    <a:solidFill>
                      <a:srgbClr val="EDF2F6"/>
                    </a:solidFill>
                  </a:tcPr>
                </a:tc>
                <a:tc>
                  <a:txBody>
                    <a:bodyPr/>
                    <a:lstStyle/>
                    <a:p>
                      <a:pPr algn="ctr"/>
                      <a:r>
                        <a:rPr sz="2400" b="0">
                          <a:solidFill>
                            <a:srgbClr val="202428"/>
                          </a:solidFill>
                          <a:latin typeface="Liberation Sans"/>
                        </a:rPr>
                        <a:t>0.615</a:t>
                      </a:r>
                    </a:p>
                  </a:txBody>
                  <a:tcPr marL="109728" marR="109728" marT="54864" marB="54864" anchor="ctr">
                    <a:solidFill>
                      <a:srgbClr val="EDF2F6"/>
                    </a:solidFill>
                  </a:tcPr>
                </a:tc>
              </a:tr>
            </a:tbl>
          </a:graphicData>
        </a:graphic>
      </p:graphicFrame>
      <p:sp>
        <p:nvSpPr>
          <p:cNvPr id="9" name="Rectangle 8"/>
          <p:cNvSpPr/>
          <p:nvPr/>
        </p:nvSpPr>
        <p:spPr>
          <a:xfrm>
            <a:off x="548640" y="5321808"/>
            <a:ext cx="11064240" cy="713232"/>
          </a:xfrm>
          <a:prstGeom prst="rect">
            <a:avLst/>
          </a:prstGeom>
          <a:solidFill>
            <a:srgbClr val="ED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431536"/>
            <a:ext cx="10698480" cy="521207"/>
          </a:xfrm>
          <a:prstGeom prst="rect">
            <a:avLst/>
          </a:prstGeom>
          <a:noFill/>
        </p:spPr>
        <p:txBody>
          <a:bodyPr wrap="square" lIns="22860" rIns="22860" tIns="22860" bIns="22860">
            <a:spAutoFit/>
          </a:bodyPr>
          <a:lstStyle/>
          <a:p>
            <a:pPr>
              <a:lnSpc>
                <a:spcPct val="112000"/>
              </a:lnSpc>
              <a:spcBef>
                <a:spcPts val="0"/>
              </a:spcBef>
              <a:spcAft>
                <a:spcPts val="1200"/>
              </a:spcAft>
            </a:pPr>
            <a:r>
              <a:rPr sz="2200" b="1">
                <a:solidFill>
                  <a:srgbClr val="315F82"/>
                </a:solidFill>
                <a:latin typeface="Liberation Sans"/>
              </a:rPr>
              <a:t>The comparison must use the budget that the policy actually imposes.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Calibration depends on the fit configuration</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The magnitude views are informative; weighting and recalibration change ECE.</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icdm_v2.json · Python-generated paper figure</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6</a:t>
            </a:r>
          </a:p>
        </p:txBody>
      </p:sp>
      <p:pic>
        <p:nvPicPr>
          <p:cNvPr id="8" name="Picture 7" descr="fig_redund_calib.png"/>
          <p:cNvPicPr>
            <a:picLocks noChangeAspect="1"/>
          </p:cNvPicPr>
          <p:nvPr/>
        </p:nvPicPr>
        <p:blipFill>
          <a:blip r:embed="rId3"/>
          <a:stretch>
            <a:fillRect/>
          </a:stretch>
        </p:blipFill>
        <p:spPr>
          <a:xfrm>
            <a:off x="2811256" y="1755648"/>
            <a:ext cx="6539007" cy="3493008"/>
          </a:xfrm>
          <a:prstGeom prst="rect">
            <a:avLst/>
          </a:prstGeom>
        </p:spPr>
      </p:pic>
      <p:sp>
        <p:nvSpPr>
          <p:cNvPr id="9" name="Rectangle 8"/>
          <p:cNvSpPr/>
          <p:nvPr/>
        </p:nvSpPr>
        <p:spPr>
          <a:xfrm>
            <a:off x="548640" y="5321808"/>
            <a:ext cx="11064240" cy="713232"/>
          </a:xfrm>
          <a:prstGeom prst="rect">
            <a:avLst/>
          </a:prstGeom>
          <a:solidFill>
            <a:srgbClr val="ED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431536"/>
            <a:ext cx="10698480" cy="521207"/>
          </a:xfrm>
          <a:prstGeom prst="rect">
            <a:avLst/>
          </a:prstGeom>
          <a:noFill/>
        </p:spPr>
        <p:txBody>
          <a:bodyPr wrap="square" lIns="22860" rIns="22860" tIns="22860" bIns="22860">
            <a:spAutoFit/>
          </a:bodyPr>
          <a:lstStyle/>
          <a:p>
            <a:pPr>
              <a:lnSpc>
                <a:spcPct val="112000"/>
              </a:lnSpc>
              <a:spcBef>
                <a:spcPts val="0"/>
              </a:spcBef>
              <a:spcAft>
                <a:spcPts val="1200"/>
              </a:spcAft>
            </a:pPr>
            <a:r>
              <a:rPr sz="2200" b="1">
                <a:solidFill>
                  <a:srgbClr val="315F82"/>
                </a:solidFill>
                <a:latin typeface="Liberation Sans"/>
              </a:rPr>
              <a:t>Low ECE does not establish a superior retention policy.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The runtime scorer reconstructs its features</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A matched-row bridge separates feature realization from trajectory changes.</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feature_bridge/bridge.{llama.bf16,qwen.fp32}.json · paper §IV-B</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7</a:t>
            </a:r>
          </a:p>
        </p:txBody>
      </p:sp>
      <p:graphicFrame>
        <p:nvGraphicFramePr>
          <p:cNvPr id="8" name="Table 7"/>
          <p:cNvGraphicFramePr>
            <a:graphicFrameLocks noGrp="1"/>
          </p:cNvGraphicFramePr>
          <p:nvPr/>
        </p:nvGraphicFramePr>
        <p:xfrm>
          <a:off x="640080" y="1938528"/>
          <a:ext cx="10835640" cy="2779776"/>
        </p:xfrm>
        <a:graphic>
          <a:graphicData uri="http://schemas.openxmlformats.org/drawingml/2006/table">
            <a:tbl>
              <a:tblPr firstRow="1" bandRow="1">
                <a:tableStyleId>{5C22544A-7EE6-4342-B048-85BDC9FD1C3A}</a:tableStyleId>
              </a:tblPr>
              <a:tblGrid>
                <a:gridCol w="5577840"/>
                <a:gridCol w="2606040"/>
                <a:gridCol w="2651760"/>
              </a:tblGrid>
              <a:tr h="694944">
                <a:tc>
                  <a:txBody>
                    <a:bodyPr/>
                    <a:lstStyle/>
                    <a:p>
                      <a:pPr algn="l"/>
                      <a:r>
                        <a:rPr sz="2200" b="1">
                          <a:solidFill>
                            <a:srgbClr val="FFFFFF"/>
                          </a:solidFill>
                          <a:latin typeface="Liberation Sans"/>
                        </a:rPr>
                        <a:t>Feature / trajectory arm</a:t>
                      </a:r>
                    </a:p>
                  </a:txBody>
                  <a:tcPr marL="109728" marR="109728" marT="54864" marB="54864" anchor="ctr">
                    <a:solidFill>
                      <a:srgbClr val="315F82"/>
                    </a:solidFill>
                  </a:tcPr>
                </a:tc>
                <a:tc>
                  <a:txBody>
                    <a:bodyPr/>
                    <a:lstStyle/>
                    <a:p>
                      <a:pPr algn="ctr"/>
                      <a:r>
                        <a:rPr sz="2200" b="1">
                          <a:solidFill>
                            <a:srgbClr val="FFFFFF"/>
                          </a:solidFill>
                          <a:latin typeface="Liberation Sans"/>
                        </a:rPr>
                        <a:t>Llama bf16</a:t>
                      </a:r>
                    </a:p>
                  </a:txBody>
                  <a:tcPr marL="109728" marR="109728" marT="54864" marB="54864" anchor="ctr">
                    <a:solidFill>
                      <a:srgbClr val="315F82"/>
                    </a:solidFill>
                  </a:tcPr>
                </a:tc>
                <a:tc>
                  <a:txBody>
                    <a:bodyPr/>
                    <a:lstStyle/>
                    <a:p>
                      <a:pPr algn="ctr"/>
                      <a:r>
                        <a:rPr sz="2200" b="1">
                          <a:solidFill>
                            <a:srgbClr val="FFFFFF"/>
                          </a:solidFill>
                          <a:latin typeface="Liberation Sans"/>
                        </a:rPr>
                        <a:t>Qwen fp32</a:t>
                      </a:r>
                    </a:p>
                  </a:txBody>
                  <a:tcPr marL="109728" marR="109728" marT="54864" marB="54864" anchor="ctr">
                    <a:solidFill>
                      <a:srgbClr val="315F82"/>
                    </a:solidFill>
                  </a:tcPr>
                </a:tc>
              </a:tr>
              <a:tr h="694944">
                <a:tc>
                  <a:txBody>
                    <a:bodyPr/>
                    <a:lstStyle/>
                    <a:p>
                      <a:pPr algn="l"/>
                      <a:r>
                        <a:rPr sz="2200" b="0">
                          <a:solidFill>
                            <a:srgbClr val="202428"/>
                          </a:solidFill>
                          <a:latin typeface="Liberation Sans"/>
                        </a:rPr>
                        <a:t>A: offline / full cache</a:t>
                      </a:r>
                    </a:p>
                  </a:txBody>
                  <a:tcPr marL="109728" marR="109728" marT="54864" marB="54864" anchor="ctr">
                    <a:solidFill>
                      <a:srgbClr val="EDF2F6"/>
                    </a:solidFill>
                  </a:tcPr>
                </a:tc>
                <a:tc>
                  <a:txBody>
                    <a:bodyPr/>
                    <a:lstStyle/>
                    <a:p>
                      <a:pPr algn="ctr"/>
                      <a:r>
                        <a:rPr sz="2200" b="0">
                          <a:solidFill>
                            <a:srgbClr val="202428"/>
                          </a:solidFill>
                          <a:latin typeface="Liberation Sans"/>
                        </a:rPr>
                        <a:t>0.902</a:t>
                      </a:r>
                    </a:p>
                  </a:txBody>
                  <a:tcPr marL="109728" marR="109728" marT="54864" marB="54864" anchor="ctr">
                    <a:solidFill>
                      <a:srgbClr val="EDF2F6"/>
                    </a:solidFill>
                  </a:tcPr>
                </a:tc>
                <a:tc>
                  <a:txBody>
                    <a:bodyPr/>
                    <a:lstStyle/>
                    <a:p>
                      <a:pPr algn="ctr"/>
                      <a:r>
                        <a:rPr sz="2200" b="0">
                          <a:solidFill>
                            <a:srgbClr val="202428"/>
                          </a:solidFill>
                          <a:latin typeface="Liberation Sans"/>
                        </a:rPr>
                        <a:t>0.894</a:t>
                      </a:r>
                    </a:p>
                  </a:txBody>
                  <a:tcPr marL="109728" marR="109728" marT="54864" marB="54864" anchor="ctr">
                    <a:solidFill>
                      <a:srgbClr val="EDF2F6"/>
                    </a:solidFill>
                  </a:tcPr>
                </a:tc>
              </a:tr>
              <a:tr h="694944">
                <a:tc>
                  <a:txBody>
                    <a:bodyPr/>
                    <a:lstStyle/>
                    <a:p>
                      <a:pPr algn="l"/>
                      <a:r>
                        <a:rPr sz="2200" b="0">
                          <a:solidFill>
                            <a:srgbClr val="202428"/>
                          </a:solidFill>
                          <a:latin typeface="Liberation Sans"/>
                        </a:rPr>
                        <a:t>B: runtime / full cache</a:t>
                      </a:r>
                    </a:p>
                  </a:txBody>
                  <a:tcPr marL="109728" marR="109728" marT="54864" marB="54864" anchor="ctr">
                    <a:solidFill>
                      <a:srgbClr val="FFFFFF"/>
                    </a:solidFill>
                  </a:tcPr>
                </a:tc>
                <a:tc>
                  <a:txBody>
                    <a:bodyPr/>
                    <a:lstStyle/>
                    <a:p>
                      <a:pPr algn="ctr"/>
                      <a:r>
                        <a:rPr sz="2200" b="0">
                          <a:solidFill>
                            <a:srgbClr val="202428"/>
                          </a:solidFill>
                          <a:latin typeface="Liberation Sans"/>
                        </a:rPr>
                        <a:t>0.899</a:t>
                      </a:r>
                    </a:p>
                  </a:txBody>
                  <a:tcPr marL="109728" marR="109728" marT="54864" marB="54864" anchor="ctr">
                    <a:solidFill>
                      <a:srgbClr val="FFFFFF"/>
                    </a:solidFill>
                  </a:tcPr>
                </a:tc>
                <a:tc>
                  <a:txBody>
                    <a:bodyPr/>
                    <a:lstStyle/>
                    <a:p>
                      <a:pPr algn="ctr"/>
                      <a:r>
                        <a:rPr sz="2200" b="0">
                          <a:solidFill>
                            <a:srgbClr val="202428"/>
                          </a:solidFill>
                          <a:latin typeface="Liberation Sans"/>
                        </a:rPr>
                        <a:t>0.892</a:t>
                      </a:r>
                    </a:p>
                  </a:txBody>
                  <a:tcPr marL="109728" marR="109728" marT="54864" marB="54864" anchor="ctr">
                    <a:solidFill>
                      <a:srgbClr val="FFFFFF"/>
                    </a:solidFill>
                  </a:tcPr>
                </a:tc>
              </a:tr>
              <a:tr h="694944">
                <a:tc>
                  <a:txBody>
                    <a:bodyPr/>
                    <a:lstStyle/>
                    <a:p>
                      <a:pPr algn="l"/>
                      <a:r>
                        <a:rPr sz="2200" b="0">
                          <a:solidFill>
                            <a:srgbClr val="202428"/>
                          </a:solidFill>
                          <a:latin typeface="Liberation Sans"/>
                        </a:rPr>
                        <a:t>C: runtime / on policy</a:t>
                      </a:r>
                    </a:p>
                  </a:txBody>
                  <a:tcPr marL="109728" marR="109728" marT="54864" marB="54864" anchor="ctr">
                    <a:solidFill>
                      <a:srgbClr val="EDF2F6"/>
                    </a:solidFill>
                  </a:tcPr>
                </a:tc>
                <a:tc>
                  <a:txBody>
                    <a:bodyPr/>
                    <a:lstStyle/>
                    <a:p>
                      <a:pPr algn="ctr"/>
                      <a:r>
                        <a:rPr sz="2200" b="0">
                          <a:solidFill>
                            <a:srgbClr val="202428"/>
                          </a:solidFill>
                          <a:latin typeface="Liberation Sans"/>
                        </a:rPr>
                        <a:t>0.989</a:t>
                      </a:r>
                    </a:p>
                  </a:txBody>
                  <a:tcPr marL="109728" marR="109728" marT="54864" marB="54864" anchor="ctr">
                    <a:solidFill>
                      <a:srgbClr val="EDF2F6"/>
                    </a:solidFill>
                  </a:tcPr>
                </a:tc>
                <a:tc>
                  <a:txBody>
                    <a:bodyPr/>
                    <a:lstStyle/>
                    <a:p>
                      <a:pPr algn="ctr"/>
                      <a:r>
                        <a:rPr sz="2200" b="0">
                          <a:solidFill>
                            <a:srgbClr val="202428"/>
                          </a:solidFill>
                          <a:latin typeface="Liberation Sans"/>
                        </a:rPr>
                        <a:t>0.989</a:t>
                      </a:r>
                    </a:p>
                  </a:txBody>
                  <a:tcPr marL="109728" marR="109728" marT="54864" marB="54864" anchor="ctr">
                    <a:solidFill>
                      <a:srgbClr val="EDF2F6"/>
                    </a:solidFill>
                  </a:tcPr>
                </a:tc>
              </a:tr>
            </a:tbl>
          </a:graphicData>
        </a:graphic>
      </p:graphicFrame>
      <p:sp>
        <p:nvSpPr>
          <p:cNvPr id="9" name="Rectangle 8"/>
          <p:cNvSpPr/>
          <p:nvPr/>
        </p:nvSpPr>
        <p:spPr>
          <a:xfrm>
            <a:off x="548640" y="5321808"/>
            <a:ext cx="11064240" cy="713232"/>
          </a:xfrm>
          <a:prstGeom prst="rect">
            <a:avLst/>
          </a:prstGeom>
          <a:solidFill>
            <a:srgbClr val="ED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431536"/>
            <a:ext cx="10698480" cy="521207"/>
          </a:xfrm>
          <a:prstGeom prst="rect">
            <a:avLst/>
          </a:prstGeom>
          <a:noFill/>
        </p:spPr>
        <p:txBody>
          <a:bodyPr wrap="square" lIns="22860" rIns="22860" tIns="22860" bIns="22860">
            <a:spAutoFit/>
          </a:bodyPr>
          <a:lstStyle/>
          <a:p>
            <a:pPr>
              <a:lnSpc>
                <a:spcPct val="112000"/>
              </a:lnSpc>
              <a:spcBef>
                <a:spcPts val="0"/>
              </a:spcBef>
              <a:spcAft>
                <a:spcPts val="1200"/>
              </a:spcAft>
            </a:pPr>
            <a:r>
              <a:rPr sz="2000" b="1">
                <a:solidFill>
                  <a:srgbClr val="315F82"/>
                </a:solidFill>
                <a:latin typeface="Liberation Sans"/>
              </a:rPr>
              <a:t>The bridge measures reconstruction; the historical gap's cause remains open.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Closed-loop answer quality: the pinned rerun</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Two models × seven QA datasets × 64 prompts = 896 paired model-requests</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expand_v2/ provenance and tost/expand_v2_sensitivity.json · paper Exp#8</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8</a:t>
            </a:r>
          </a:p>
        </p:txBody>
      </p:sp>
      <p:sp>
        <p:nvSpPr>
          <p:cNvPr id="8" name="TextBox 7"/>
          <p:cNvSpPr txBox="1"/>
          <p:nvPr/>
        </p:nvSpPr>
        <p:spPr>
          <a:xfrm>
            <a:off x="822960" y="1920240"/>
            <a:ext cx="10561320" cy="3108960"/>
          </a:xfrm>
          <a:prstGeom prst="rect">
            <a:avLst/>
          </a:prstGeom>
          <a:noFill/>
        </p:spPr>
        <p:txBody>
          <a:bodyPr wrap="square" lIns="22860" rIns="22860" tIns="22860" bIns="22860">
            <a:spAutoFit/>
          </a:bodyPr>
          <a:lstStyle/>
          <a:p>
            <a:pPr>
              <a:lnSpc>
                <a:spcPct val="112000"/>
              </a:lnSpc>
              <a:spcBef>
                <a:spcPts val="0"/>
              </a:spcBef>
              <a:spcAft>
                <a:spcPts val="1200"/>
              </a:spcAft>
            </a:pPr>
            <a:r>
              <a:rPr sz="2500" b="0">
                <a:solidFill>
                  <a:srgbClr val="202428"/>
                </a:solidFill>
                <a:latin typeface="Liberation Sans"/>
              </a:rPr>
              <a:t>20% logical retention; each policy drives its own trajectory.</a:t>
            </a:r>
          </a:p>
          <a:p>
            <a:pPr>
              <a:lnSpc>
                <a:spcPct val="112000"/>
              </a:lnSpc>
              <a:spcBef>
                <a:spcPts val="0"/>
              </a:spcBef>
              <a:spcAft>
                <a:spcPts val="1200"/>
              </a:spcAft>
            </a:pPr>
            <a:r>
              <a:rPr sz="2500" b="0">
                <a:solidFill>
                  <a:srgbClr val="202428"/>
                </a:solidFill>
                <a:latin typeface="Liberation Sans"/>
              </a:rPr>
              <a:t>Pinned simulator source and bfloat16 numerics.</a:t>
            </a:r>
          </a:p>
          <a:p>
            <a:pPr>
              <a:lnSpc>
                <a:spcPct val="112000"/>
              </a:lnSpc>
              <a:spcBef>
                <a:spcPts val="0"/>
              </a:spcBef>
              <a:spcAft>
                <a:spcPts val="1200"/>
              </a:spcAft>
            </a:pPr>
            <a:r>
              <a:rPr sz="2500" b="0">
                <a:solidFill>
                  <a:srgbClr val="202428"/>
                </a:solidFill>
                <a:latin typeface="Liberation Sans"/>
              </a:rPr>
              <a:t>Official LongBench scoring with all reference answers.</a:t>
            </a:r>
          </a:p>
          <a:p>
            <a:pPr>
              <a:lnSpc>
                <a:spcPct val="112000"/>
              </a:lnSpc>
              <a:spcBef>
                <a:spcPts val="0"/>
              </a:spcBef>
              <a:spcAft>
                <a:spcPts val="1200"/>
              </a:spcAft>
            </a:pPr>
            <a:r>
              <a:rPr sz="2500" b="0">
                <a:solidFill>
                  <a:srgbClr val="202428"/>
                </a:solidFill>
                <a:latin typeface="Liberation Sans"/>
              </a:rPr>
              <a:t>Paired cell means; a pre-specified ±0.02 F1 margin.</a:t>
            </a:r>
          </a:p>
        </p:txBody>
      </p:sp>
      <p:sp>
        <p:nvSpPr>
          <p:cNvPr id="9" name="Rectangle 8"/>
          <p:cNvSpPr/>
          <p:nvPr/>
        </p:nvSpPr>
        <p:spPr>
          <a:xfrm>
            <a:off x="548640" y="5321808"/>
            <a:ext cx="11064240" cy="713232"/>
          </a:xfrm>
          <a:prstGeom prst="rect">
            <a:avLst/>
          </a:prstGeom>
          <a:solidFill>
            <a:srgbClr val="ED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431536"/>
            <a:ext cx="10698480" cy="521207"/>
          </a:xfrm>
          <a:prstGeom prst="rect">
            <a:avLst/>
          </a:prstGeom>
          <a:noFill/>
        </p:spPr>
        <p:txBody>
          <a:bodyPr wrap="square" lIns="22860" rIns="22860" tIns="22860" bIns="22860">
            <a:spAutoFit/>
          </a:bodyPr>
          <a:lstStyle/>
          <a:p>
            <a:pPr>
              <a:lnSpc>
                <a:spcPct val="112000"/>
              </a:lnSpc>
              <a:spcBef>
                <a:spcPts val="0"/>
              </a:spcBef>
              <a:spcAft>
                <a:spcPts val="1200"/>
              </a:spcAft>
            </a:pPr>
            <a:r>
              <a:rPr sz="2100" b="1">
                <a:solidFill>
                  <a:srgbClr val="315F82"/>
                </a:solidFill>
                <a:latin typeface="Liberation Sans"/>
              </a:rPr>
              <a:t>The main task-quality comparison has two architectures and seven tasks.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Mean F1 is equivalent within the chosen margin</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Both compressed policies remain below full-cache quality.</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tost/expand_v2_sensitivity.json · paper Table IV</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9</a:t>
            </a:r>
          </a:p>
        </p:txBody>
      </p:sp>
      <p:graphicFrame>
        <p:nvGraphicFramePr>
          <p:cNvPr id="8" name="Table 7"/>
          <p:cNvGraphicFramePr>
            <a:graphicFrameLocks noGrp="1"/>
          </p:cNvGraphicFramePr>
          <p:nvPr/>
        </p:nvGraphicFramePr>
        <p:xfrm>
          <a:off x="640080" y="1755648"/>
          <a:ext cx="10835640" cy="2523744"/>
        </p:xfrm>
        <a:graphic>
          <a:graphicData uri="http://schemas.openxmlformats.org/drawingml/2006/table">
            <a:tbl>
              <a:tblPr firstRow="1" bandRow="1">
                <a:tableStyleId>{5C22544A-7EE6-4342-B048-85BDC9FD1C3A}</a:tableStyleId>
              </a:tblPr>
              <a:tblGrid>
                <a:gridCol w="7315200"/>
                <a:gridCol w="3520440"/>
              </a:tblGrid>
              <a:tr h="630936">
                <a:tc>
                  <a:txBody>
                    <a:bodyPr/>
                    <a:lstStyle/>
                    <a:p>
                      <a:pPr algn="l"/>
                      <a:r>
                        <a:rPr sz="2200" b="1">
                          <a:solidFill>
                            <a:srgbClr val="FFFFFF"/>
                          </a:solidFill>
                          <a:latin typeface="Liberation Sans"/>
                        </a:rPr>
                        <a:t>Policy realization</a:t>
                      </a:r>
                    </a:p>
                  </a:txBody>
                  <a:tcPr marL="109728" marR="109728" marT="54864" marB="54864" anchor="ctr">
                    <a:solidFill>
                      <a:srgbClr val="315F82"/>
                    </a:solidFill>
                  </a:tcPr>
                </a:tc>
                <a:tc>
                  <a:txBody>
                    <a:bodyPr/>
                    <a:lstStyle/>
                    <a:p>
                      <a:pPr algn="ctr"/>
                      <a:r>
                        <a:rPr sz="2200" b="1">
                          <a:solidFill>
                            <a:srgbClr val="FFFFFF"/>
                          </a:solidFill>
                          <a:latin typeface="Liberation Sans"/>
                        </a:rPr>
                        <a:t>Mean F1</a:t>
                      </a:r>
                    </a:p>
                  </a:txBody>
                  <a:tcPr marL="109728" marR="109728" marT="54864" marB="54864" anchor="ctr">
                    <a:solidFill>
                      <a:srgbClr val="315F82"/>
                    </a:solidFill>
                  </a:tcPr>
                </a:tc>
              </a:tr>
              <a:tr h="630936">
                <a:tc>
                  <a:txBody>
                    <a:bodyPr/>
                    <a:lstStyle/>
                    <a:p>
                      <a:pPr algn="l"/>
                      <a:r>
                        <a:rPr sz="2200" b="0">
                          <a:solidFill>
                            <a:srgbClr val="202428"/>
                          </a:solidFill>
                          <a:latin typeface="Liberation Sans"/>
                        </a:rPr>
                        <a:t>Full cache</a:t>
                      </a:r>
                    </a:p>
                  </a:txBody>
                  <a:tcPr marL="109728" marR="109728" marT="54864" marB="54864" anchor="ctr">
                    <a:solidFill>
                      <a:srgbClr val="EDF2F6"/>
                    </a:solidFill>
                  </a:tcPr>
                </a:tc>
                <a:tc>
                  <a:txBody>
                    <a:bodyPr/>
                    <a:lstStyle/>
                    <a:p>
                      <a:pPr algn="ctr"/>
                      <a:r>
                        <a:rPr sz="2200" b="0">
                          <a:solidFill>
                            <a:srgbClr val="202428"/>
                          </a:solidFill>
                          <a:latin typeface="Liberation Sans"/>
                        </a:rPr>
                        <a:t>0.419</a:t>
                      </a:r>
                    </a:p>
                  </a:txBody>
                  <a:tcPr marL="109728" marR="109728" marT="54864" marB="54864" anchor="ctr">
                    <a:solidFill>
                      <a:srgbClr val="EDF2F6"/>
                    </a:solidFill>
                  </a:tcPr>
                </a:tc>
              </a:tr>
              <a:tr h="630936">
                <a:tc>
                  <a:txBody>
                    <a:bodyPr/>
                    <a:lstStyle/>
                    <a:p>
                      <a:pPr algn="l"/>
                      <a:r>
                        <a:rPr sz="2200" b="0">
                          <a:solidFill>
                            <a:srgbClr val="202428"/>
                          </a:solidFill>
                          <a:latin typeface="Liberation Sans"/>
                        </a:rPr>
                        <a:t>H2O-style accumulation</a:t>
                      </a:r>
                    </a:p>
                  </a:txBody>
                  <a:tcPr marL="109728" marR="109728" marT="54864" marB="54864" anchor="ctr">
                    <a:solidFill>
                      <a:srgbClr val="FFFFFF"/>
                    </a:solidFill>
                  </a:tcPr>
                </a:tc>
                <a:tc>
                  <a:txBody>
                    <a:bodyPr/>
                    <a:lstStyle/>
                    <a:p>
                      <a:pPr algn="ctr"/>
                      <a:r>
                        <a:rPr sz="2200" b="0">
                          <a:solidFill>
                            <a:srgbClr val="202428"/>
                          </a:solidFill>
                          <a:latin typeface="Liberation Sans"/>
                        </a:rPr>
                        <a:t>0.372</a:t>
                      </a:r>
                    </a:p>
                  </a:txBody>
                  <a:tcPr marL="109728" marR="109728" marT="54864" marB="54864" anchor="ctr">
                    <a:solidFill>
                      <a:srgbClr val="FFFFFF"/>
                    </a:solidFill>
                  </a:tcPr>
                </a:tc>
              </a:tr>
              <a:tr h="630936">
                <a:tc>
                  <a:txBody>
                    <a:bodyPr/>
                    <a:lstStyle/>
                    <a:p>
                      <a:pPr algn="l"/>
                      <a:r>
                        <a:rPr sz="2200" b="0">
                          <a:solidFill>
                            <a:srgbClr val="202428"/>
                          </a:solidFill>
                          <a:latin typeface="Liberation Sans"/>
                        </a:rPr>
                        <a:t>Reconstructed two-view</a:t>
                      </a:r>
                    </a:p>
                  </a:txBody>
                  <a:tcPr marL="109728" marR="109728" marT="54864" marB="54864" anchor="ctr">
                    <a:solidFill>
                      <a:srgbClr val="EDF2F6"/>
                    </a:solidFill>
                  </a:tcPr>
                </a:tc>
                <a:tc>
                  <a:txBody>
                    <a:bodyPr/>
                    <a:lstStyle/>
                    <a:p>
                      <a:pPr algn="ctr"/>
                      <a:r>
                        <a:rPr sz="2200" b="0">
                          <a:solidFill>
                            <a:srgbClr val="202428"/>
                          </a:solidFill>
                          <a:latin typeface="Liberation Sans"/>
                        </a:rPr>
                        <a:t>0.374</a:t>
                      </a:r>
                    </a:p>
                  </a:txBody>
                  <a:tcPr marL="109728" marR="109728" marT="54864" marB="54864" anchor="ctr">
                    <a:solidFill>
                      <a:srgbClr val="EDF2F6"/>
                    </a:solidFill>
                  </a:tcPr>
                </a:tc>
              </a:tr>
            </a:tbl>
          </a:graphicData>
        </a:graphic>
      </p:graphicFrame>
      <p:sp>
        <p:nvSpPr>
          <p:cNvPr id="9" name="TextBox 8"/>
          <p:cNvSpPr txBox="1"/>
          <p:nvPr/>
        </p:nvSpPr>
        <p:spPr>
          <a:xfrm>
            <a:off x="786384" y="4462272"/>
            <a:ext cx="10698480" cy="1554480"/>
          </a:xfrm>
          <a:prstGeom prst="rect">
            <a:avLst/>
          </a:prstGeom>
          <a:noFill/>
        </p:spPr>
        <p:txBody>
          <a:bodyPr wrap="square" lIns="22860" rIns="22860" tIns="22860" bIns="22860">
            <a:spAutoFit/>
          </a:bodyPr>
          <a:lstStyle/>
          <a:p>
            <a:pPr>
              <a:lnSpc>
                <a:spcPct val="112000"/>
              </a:lnSpc>
              <a:spcBef>
                <a:spcPts val="0"/>
              </a:spcBef>
              <a:spcAft>
                <a:spcPts val="1200"/>
              </a:spcAft>
            </a:pPr>
            <a:r>
              <a:rPr sz="2100" b="0">
                <a:solidFill>
                  <a:srgbClr val="315F82"/>
                </a:solidFill>
                <a:latin typeface="Liberation Sans"/>
              </a:rPr>
              <a:t>Paired difference +0.0017   |   TOST p = 0.0007</a:t>
            </a:r>
          </a:p>
          <a:p>
            <a:pPr>
              <a:lnSpc>
                <a:spcPct val="112000"/>
              </a:lnSpc>
              <a:spcBef>
                <a:spcPts val="0"/>
              </a:spcBef>
              <a:spcAft>
                <a:spcPts val="1200"/>
              </a:spcAft>
            </a:pPr>
            <a:r>
              <a:rPr sz="2100" b="0">
                <a:solidFill>
                  <a:srgbClr val="315F82"/>
                </a:solidFill>
                <a:latin typeface="Liberation Sans"/>
              </a:rPr>
              <a:t>14-cell 90% t interval [-0.0063, +0.0097]</a:t>
            </a:r>
          </a:p>
          <a:p>
            <a:pPr>
              <a:lnSpc>
                <a:spcPct val="112000"/>
              </a:lnSpc>
              <a:spcBef>
                <a:spcPts val="0"/>
              </a:spcBef>
              <a:spcAft>
                <a:spcPts val="1200"/>
              </a:spcAft>
            </a:pPr>
            <a:r>
              <a:rPr sz="2100" b="0">
                <a:solidFill>
                  <a:srgbClr val="315F82"/>
                </a:solidFill>
                <a:latin typeface="Liberation Sans"/>
              </a:rPr>
              <a:t>Seven-dataset sensitivity: p = 0.0023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Task heterogeneity remains visible</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An average-equivalence result can contain gains and losses by task.</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tost/expand_v2_sensitivity.json · Python-generated paper forest plot</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10</a:t>
            </a:r>
          </a:p>
        </p:txBody>
      </p:sp>
      <p:pic>
        <p:nvPicPr>
          <p:cNvPr id="8" name="Picture 7" descr="fig_cell_forest.png"/>
          <p:cNvPicPr>
            <a:picLocks noChangeAspect="1"/>
          </p:cNvPicPr>
          <p:nvPr/>
        </p:nvPicPr>
        <p:blipFill>
          <a:blip r:embed="rId3"/>
          <a:stretch>
            <a:fillRect/>
          </a:stretch>
        </p:blipFill>
        <p:spPr>
          <a:xfrm>
            <a:off x="3365579" y="1627632"/>
            <a:ext cx="5430361" cy="4343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Physical storage falls; total memory falls much less</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A separate eager, single-request reference backend at 20% block budget</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physical_kv/{llama3.1-v1,qwen25-v1}/summary.json · paper Table III</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11</a:t>
            </a:r>
          </a:p>
        </p:txBody>
      </p:sp>
      <p:graphicFrame>
        <p:nvGraphicFramePr>
          <p:cNvPr id="8" name="Table 7"/>
          <p:cNvGraphicFramePr>
            <a:graphicFrameLocks noGrp="1"/>
          </p:cNvGraphicFramePr>
          <p:nvPr/>
        </p:nvGraphicFramePr>
        <p:xfrm>
          <a:off x="640080" y="1874519"/>
          <a:ext cx="10835640" cy="2276856"/>
        </p:xfrm>
        <a:graphic>
          <a:graphicData uri="http://schemas.openxmlformats.org/drawingml/2006/table">
            <a:tbl>
              <a:tblPr firstRow="1" bandRow="1">
                <a:tableStyleId>{5C22544A-7EE6-4342-B048-85BDC9FD1C3A}</a:tableStyleId>
              </a:tblPr>
              <a:tblGrid>
                <a:gridCol w="3429000"/>
                <a:gridCol w="3566160"/>
                <a:gridCol w="3840480"/>
              </a:tblGrid>
              <a:tr h="758952">
                <a:tc>
                  <a:txBody>
                    <a:bodyPr/>
                    <a:lstStyle/>
                    <a:p>
                      <a:pPr algn="l"/>
                      <a:r>
                        <a:rPr sz="2200" b="1">
                          <a:solidFill>
                            <a:srgbClr val="FFFFFF"/>
                          </a:solidFill>
                          <a:latin typeface="Liberation Sans"/>
                        </a:rPr>
                        <a:t>Model</a:t>
                      </a:r>
                    </a:p>
                  </a:txBody>
                  <a:tcPr marL="109728" marR="109728" marT="54864" marB="54864" anchor="ctr">
                    <a:solidFill>
                      <a:srgbClr val="315F82"/>
                    </a:solidFill>
                  </a:tcPr>
                </a:tc>
                <a:tc>
                  <a:txBody>
                    <a:bodyPr/>
                    <a:lstStyle/>
                    <a:p>
                      <a:pPr algn="ctr"/>
                      <a:r>
                        <a:rPr sz="2200" b="1">
                          <a:solidFill>
                            <a:srgbClr val="FFFFFF"/>
                          </a:solidFill>
                          <a:latin typeface="Liberation Sans"/>
                        </a:rPr>
                        <a:t>Stored KV (MiB)</a:t>
                      </a:r>
                    </a:p>
                  </a:txBody>
                  <a:tcPr marL="109728" marR="109728" marT="54864" marB="54864" anchor="ctr">
                    <a:solidFill>
                      <a:srgbClr val="315F82"/>
                    </a:solidFill>
                  </a:tcPr>
                </a:tc>
                <a:tc>
                  <a:txBody>
                    <a:bodyPr/>
                    <a:lstStyle/>
                    <a:p>
                      <a:pPr algn="ctr"/>
                      <a:r>
                        <a:rPr sz="2200" b="1">
                          <a:solidFill>
                            <a:srgbClr val="FFFFFF"/>
                          </a:solidFill>
                          <a:latin typeface="Liberation Sans"/>
                        </a:rPr>
                        <a:t>Decode peak (GiB)</a:t>
                      </a:r>
                    </a:p>
                  </a:txBody>
                  <a:tcPr marL="109728" marR="109728" marT="54864" marB="54864" anchor="ctr">
                    <a:solidFill>
                      <a:srgbClr val="315F82"/>
                    </a:solidFill>
                  </a:tcPr>
                </a:tc>
              </a:tr>
              <a:tr h="758952">
                <a:tc>
                  <a:txBody>
                    <a:bodyPr/>
                    <a:lstStyle/>
                    <a:p>
                      <a:pPr algn="l"/>
                      <a:r>
                        <a:rPr sz="2200" b="0">
                          <a:solidFill>
                            <a:srgbClr val="202428"/>
                          </a:solidFill>
                          <a:latin typeface="Liberation Sans"/>
                        </a:rPr>
                        <a:t>Llama bf16</a:t>
                      </a:r>
                    </a:p>
                  </a:txBody>
                  <a:tcPr marL="109728" marR="109728" marT="54864" marB="54864" anchor="ctr">
                    <a:solidFill>
                      <a:srgbClr val="EDF2F6"/>
                    </a:solidFill>
                  </a:tcPr>
                </a:tc>
                <a:tc>
                  <a:txBody>
                    <a:bodyPr/>
                    <a:lstStyle/>
                    <a:p>
                      <a:pPr algn="ctr"/>
                      <a:r>
                        <a:rPr sz="2200" b="0">
                          <a:solidFill>
                            <a:srgbClr val="202428"/>
                          </a:solidFill>
                          <a:latin typeface="Liberation Sans"/>
                        </a:rPr>
                        <a:t>496 → 94</a:t>
                      </a:r>
                    </a:p>
                  </a:txBody>
                  <a:tcPr marL="109728" marR="109728" marT="54864" marB="54864" anchor="ctr">
                    <a:solidFill>
                      <a:srgbClr val="EDF2F6"/>
                    </a:solidFill>
                  </a:tcPr>
                </a:tc>
                <a:tc>
                  <a:txBody>
                    <a:bodyPr/>
                    <a:lstStyle/>
                    <a:p>
                      <a:pPr algn="ctr"/>
                      <a:r>
                        <a:rPr sz="2200" b="0">
                          <a:solidFill>
                            <a:srgbClr val="202428"/>
                          </a:solidFill>
                          <a:latin typeface="Liberation Sans"/>
                        </a:rPr>
                        <a:t>15.51 → 15.10</a:t>
                      </a:r>
                    </a:p>
                  </a:txBody>
                  <a:tcPr marL="109728" marR="109728" marT="54864" marB="54864" anchor="ctr">
                    <a:solidFill>
                      <a:srgbClr val="EDF2F6"/>
                    </a:solidFill>
                  </a:tcPr>
                </a:tc>
              </a:tr>
              <a:tr h="758952">
                <a:tc>
                  <a:txBody>
                    <a:bodyPr/>
                    <a:lstStyle/>
                    <a:p>
                      <a:pPr algn="l"/>
                      <a:r>
                        <a:rPr sz="2200" b="0">
                          <a:solidFill>
                            <a:srgbClr val="202428"/>
                          </a:solidFill>
                          <a:latin typeface="Liberation Sans"/>
                        </a:rPr>
                        <a:t>Qwen fp32</a:t>
                      </a:r>
                    </a:p>
                  </a:txBody>
                  <a:tcPr marL="109728" marR="109728" marT="54864" marB="54864" anchor="ctr">
                    <a:solidFill>
                      <a:srgbClr val="FFFFFF"/>
                    </a:solidFill>
                  </a:tcPr>
                </a:tc>
                <a:tc>
                  <a:txBody>
                    <a:bodyPr/>
                    <a:lstStyle/>
                    <a:p>
                      <a:pPr algn="ctr"/>
                      <a:r>
                        <a:rPr sz="2200" b="0">
                          <a:solidFill>
                            <a:srgbClr val="202428"/>
                          </a:solidFill>
                          <a:latin typeface="Liberation Sans"/>
                        </a:rPr>
                        <a:t>434 → 82</a:t>
                      </a:r>
                    </a:p>
                  </a:txBody>
                  <a:tcPr marL="109728" marR="109728" marT="54864" marB="54864" anchor="ctr">
                    <a:solidFill>
                      <a:srgbClr val="FFFFFF"/>
                    </a:solidFill>
                  </a:tcPr>
                </a:tc>
                <a:tc>
                  <a:txBody>
                    <a:bodyPr/>
                    <a:lstStyle/>
                    <a:p>
                      <a:pPr algn="ctr"/>
                      <a:r>
                        <a:rPr sz="2200" b="0">
                          <a:solidFill>
                            <a:srgbClr val="202428"/>
                          </a:solidFill>
                          <a:latin typeface="Liberation Sans"/>
                        </a:rPr>
                        <a:t>29.05 → 28.63</a:t>
                      </a:r>
                    </a:p>
                  </a:txBody>
                  <a:tcPr marL="109728" marR="109728" marT="54864" marB="54864" anchor="ctr">
                    <a:solidFill>
                      <a:srgbClr val="FFFFFF"/>
                    </a:solidFill>
                  </a:tcPr>
                </a:tc>
              </a:tr>
            </a:tbl>
          </a:graphicData>
        </a:graphic>
      </p:graphicFrame>
      <p:sp>
        <p:nvSpPr>
          <p:cNvPr id="9" name="TextBox 8"/>
          <p:cNvSpPr txBox="1"/>
          <p:nvPr/>
        </p:nvSpPr>
        <p:spPr>
          <a:xfrm>
            <a:off x="795528" y="4590288"/>
            <a:ext cx="10607040" cy="1280160"/>
          </a:xfrm>
          <a:prstGeom prst="rect">
            <a:avLst/>
          </a:prstGeom>
          <a:noFill/>
        </p:spPr>
        <p:txBody>
          <a:bodyPr wrap="square" lIns="22860" rIns="22860" tIns="22860" bIns="22860">
            <a:spAutoFit/>
          </a:bodyPr>
          <a:lstStyle/>
          <a:p>
            <a:pPr>
              <a:lnSpc>
                <a:spcPct val="112000"/>
              </a:lnSpc>
              <a:spcBef>
                <a:spcPts val="0"/>
              </a:spcBef>
              <a:spcAft>
                <a:spcPts val="1200"/>
              </a:spcAft>
            </a:pPr>
            <a:r>
              <a:rPr sz="2300" b="0">
                <a:solidFill>
                  <a:srgbClr val="8C1D1D"/>
                </a:solidFill>
                <a:latin typeface="Liberation Sans"/>
              </a:rPr>
              <a:t>Extended mask/physical parity exceeds the preset numerical tolerance.</a:t>
            </a:r>
          </a:p>
          <a:p>
            <a:pPr>
              <a:lnSpc>
                <a:spcPct val="112000"/>
              </a:lnSpc>
              <a:spcBef>
                <a:spcPts val="0"/>
              </a:spcBef>
              <a:spcAft>
                <a:spcPts val="1200"/>
              </a:spcAft>
            </a:pPr>
            <a:r>
              <a:rPr sz="2300" b="0">
                <a:solidFill>
                  <a:srgbClr val="8C1D1D"/>
                </a:solidFill>
                <a:latin typeface="Liberation Sans"/>
              </a:rPr>
              <a:t>No production TPOT, concurrency or throughput conclusion follows.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Query evidence is scoped to the tested controls</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Phase-aligned dot-max is a probe; it is not Quest's page-bound algorithm.</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physical_kv/*/summary.json / query_v2 · paper §IX</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12</a:t>
            </a:r>
          </a:p>
        </p:txBody>
      </p:sp>
      <p:graphicFrame>
        <p:nvGraphicFramePr>
          <p:cNvPr id="8" name="Table 7"/>
          <p:cNvGraphicFramePr>
            <a:graphicFrameLocks noGrp="1"/>
          </p:cNvGraphicFramePr>
          <p:nvPr/>
        </p:nvGraphicFramePr>
        <p:xfrm>
          <a:off x="640080" y="1956816"/>
          <a:ext cx="10835640" cy="2359152"/>
        </p:xfrm>
        <a:graphic>
          <a:graphicData uri="http://schemas.openxmlformats.org/drawingml/2006/table">
            <a:tbl>
              <a:tblPr firstRow="1" bandRow="1">
                <a:tableStyleId>{5C22544A-7EE6-4342-B048-85BDC9FD1C3A}</a:tableStyleId>
              </a:tblPr>
              <a:tblGrid>
                <a:gridCol w="5669280"/>
                <a:gridCol w="5166360"/>
              </a:tblGrid>
              <a:tr h="786384">
                <a:tc>
                  <a:txBody>
                    <a:bodyPr/>
                    <a:lstStyle/>
                    <a:p>
                      <a:pPr algn="l"/>
                      <a:r>
                        <a:rPr sz="2400" b="1">
                          <a:solidFill>
                            <a:srgbClr val="FFFFFF"/>
                          </a:solidFill>
                          <a:latin typeface="Liberation Sans"/>
                        </a:rPr>
                        <a:t>Model</a:t>
                      </a:r>
                    </a:p>
                  </a:txBody>
                  <a:tcPr marL="109728" marR="109728" marT="54864" marB="54864" anchor="ctr">
                    <a:solidFill>
                      <a:srgbClr val="315F82"/>
                    </a:solidFill>
                  </a:tcPr>
                </a:tc>
                <a:tc>
                  <a:txBody>
                    <a:bodyPr/>
                    <a:lstStyle/>
                    <a:p>
                      <a:pPr algn="ctr"/>
                      <a:r>
                        <a:rPr sz="2400" b="1">
                          <a:solidFill>
                            <a:srgbClr val="FFFFFF"/>
                          </a:solidFill>
                          <a:latin typeface="Liberation Sans"/>
                        </a:rPr>
                        <a:t>Request-mean AUC change</a:t>
                      </a:r>
                    </a:p>
                  </a:txBody>
                  <a:tcPr marL="109728" marR="109728" marT="54864" marB="54864" anchor="ctr">
                    <a:solidFill>
                      <a:srgbClr val="315F82"/>
                    </a:solidFill>
                  </a:tcPr>
                </a:tc>
              </a:tr>
              <a:tr h="786384">
                <a:tc>
                  <a:txBody>
                    <a:bodyPr/>
                    <a:lstStyle/>
                    <a:p>
                      <a:pPr algn="l"/>
                      <a:r>
                        <a:rPr sz="2400" b="0">
                          <a:solidFill>
                            <a:srgbClr val="202428"/>
                          </a:solidFill>
                          <a:latin typeface="Liberation Sans"/>
                        </a:rPr>
                        <a:t>Llama-3.1-8B</a:t>
                      </a:r>
                    </a:p>
                  </a:txBody>
                  <a:tcPr marL="109728" marR="109728" marT="54864" marB="54864" anchor="ctr">
                    <a:solidFill>
                      <a:srgbClr val="EDF2F6"/>
                    </a:solidFill>
                  </a:tcPr>
                </a:tc>
                <a:tc>
                  <a:txBody>
                    <a:bodyPr/>
                    <a:lstStyle/>
                    <a:p>
                      <a:pPr algn="ctr"/>
                      <a:r>
                        <a:rPr sz="2400" b="0">
                          <a:solidFill>
                            <a:srgbClr val="202428"/>
                          </a:solidFill>
                          <a:latin typeface="Liberation Sans"/>
                        </a:rPr>
                        <a:t>-0.0070</a:t>
                      </a:r>
                    </a:p>
                  </a:txBody>
                  <a:tcPr marL="109728" marR="109728" marT="54864" marB="54864" anchor="ctr">
                    <a:solidFill>
                      <a:srgbClr val="EDF2F6"/>
                    </a:solidFill>
                  </a:tcPr>
                </a:tc>
              </a:tr>
              <a:tr h="786384">
                <a:tc>
                  <a:txBody>
                    <a:bodyPr/>
                    <a:lstStyle/>
                    <a:p>
                      <a:pPr algn="l"/>
                      <a:r>
                        <a:rPr sz="2400" b="0">
                          <a:solidFill>
                            <a:srgbClr val="202428"/>
                          </a:solidFill>
                          <a:latin typeface="Liberation Sans"/>
                        </a:rPr>
                        <a:t>Qwen2.5-7B</a:t>
                      </a:r>
                    </a:p>
                  </a:txBody>
                  <a:tcPr marL="109728" marR="109728" marT="54864" marB="54864" anchor="ctr">
                    <a:solidFill>
                      <a:srgbClr val="FFFFFF"/>
                    </a:solidFill>
                  </a:tcPr>
                </a:tc>
                <a:tc>
                  <a:txBody>
                    <a:bodyPr/>
                    <a:lstStyle/>
                    <a:p>
                      <a:pPr algn="ctr"/>
                      <a:r>
                        <a:rPr sz="2400" b="0">
                          <a:solidFill>
                            <a:srgbClr val="202428"/>
                          </a:solidFill>
                          <a:latin typeface="Liberation Sans"/>
                        </a:rPr>
                        <a:t>+0.0020</a:t>
                      </a:r>
                    </a:p>
                  </a:txBody>
                  <a:tcPr marL="109728" marR="109728" marT="54864" marB="54864" anchor="ctr">
                    <a:solidFill>
                      <a:srgbClr val="FFFFFF"/>
                    </a:solidFill>
                  </a:tcPr>
                </a:tc>
              </a:tr>
            </a:tbl>
          </a:graphicData>
        </a:graphic>
      </p:graphicFrame>
      <p:sp>
        <p:nvSpPr>
          <p:cNvPr id="9" name="Rectangle 8"/>
          <p:cNvSpPr/>
          <p:nvPr/>
        </p:nvSpPr>
        <p:spPr>
          <a:xfrm>
            <a:off x="548640" y="5321808"/>
            <a:ext cx="11064240" cy="713232"/>
          </a:xfrm>
          <a:prstGeom prst="rect">
            <a:avLst/>
          </a:prstGeom>
          <a:solidFill>
            <a:srgbClr val="ED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431536"/>
            <a:ext cx="10698480" cy="521207"/>
          </a:xfrm>
          <a:prstGeom prst="rect">
            <a:avLst/>
          </a:prstGeom>
          <a:noFill/>
        </p:spPr>
        <p:txBody>
          <a:bodyPr wrap="square" lIns="22860" rIns="22860" tIns="22860" bIns="22860">
            <a:spAutoFit/>
          </a:bodyPr>
          <a:lstStyle/>
          <a:p>
            <a:pPr>
              <a:lnSpc>
                <a:spcPct val="112000"/>
              </a:lnSpc>
              <a:spcBef>
                <a:spcPts val="0"/>
              </a:spcBef>
              <a:spcAft>
                <a:spcPts val="1200"/>
              </a:spcAft>
            </a:pPr>
            <a:r>
              <a:rPr sz="2100" b="1">
                <a:solidFill>
                  <a:srgbClr val="315F82"/>
                </a:solidFill>
                <a:latin typeface="Liberation Sans"/>
              </a:rPr>
              <a:t>No extrapolation to MoE, base models, ≥32K contexts or sampling.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A benchmark contribution to data systems for AI</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Versioned collection, provenance and explicit evaluation contracts</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Code and paper: github.com/lzbaclz/KVSalienceBench · corresponding author: chenjx@hust.edu.cn</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13</a:t>
            </a:r>
          </a:p>
        </p:txBody>
      </p:sp>
      <p:sp>
        <p:nvSpPr>
          <p:cNvPr id="8" name="TextBox 7"/>
          <p:cNvSpPr txBox="1"/>
          <p:nvPr/>
        </p:nvSpPr>
        <p:spPr>
          <a:xfrm>
            <a:off x="795528" y="1920240"/>
            <a:ext cx="10607040" cy="3291840"/>
          </a:xfrm>
          <a:prstGeom prst="rect">
            <a:avLst/>
          </a:prstGeom>
          <a:noFill/>
        </p:spPr>
        <p:txBody>
          <a:bodyPr wrap="square" lIns="22860" rIns="22860" tIns="22860" bIns="22860">
            <a:spAutoFit/>
          </a:bodyPr>
          <a:lstStyle/>
          <a:p>
            <a:pPr>
              <a:lnSpc>
                <a:spcPct val="112000"/>
              </a:lnSpc>
              <a:spcBef>
                <a:spcPts val="0"/>
              </a:spcBef>
              <a:spcAft>
                <a:spcPts val="1200"/>
              </a:spcAft>
            </a:pPr>
            <a:r>
              <a:rPr sz="2500" b="0">
                <a:solidFill>
                  <a:srgbClr val="202428"/>
                </a:solidFill>
                <a:latin typeface="Liberation Sans"/>
              </a:rPr>
              <a:t>1. Evaluate scores under the policy's decision budget.</a:t>
            </a:r>
          </a:p>
          <a:p>
            <a:pPr>
              <a:lnSpc>
                <a:spcPct val="112000"/>
              </a:lnSpc>
              <a:spcBef>
                <a:spcPts val="0"/>
              </a:spcBef>
              <a:spcAft>
                <a:spcPts val="1200"/>
              </a:spcAft>
            </a:pPr>
            <a:r>
              <a:rPr sz="2500" b="0">
                <a:solidFill>
                  <a:srgbClr val="202428"/>
                </a:solidFill>
                <a:latin typeface="Liberation Sans"/>
              </a:rPr>
              <a:t>2. Specify feature reconstruction and selector semantics.</a:t>
            </a:r>
          </a:p>
          <a:p>
            <a:pPr>
              <a:lnSpc>
                <a:spcPct val="112000"/>
              </a:lnSpc>
              <a:spcBef>
                <a:spcPts val="0"/>
              </a:spcBef>
              <a:spcAft>
                <a:spcPts val="1200"/>
              </a:spcAft>
            </a:pPr>
            <a:r>
              <a:rPr sz="2500" b="0">
                <a:solidFill>
                  <a:srgbClr val="202428"/>
                </a:solidFill>
                <a:latin typeface="Liberation Sans"/>
              </a:rPr>
              <a:t>3. Separate answer quality, physical storage and serving cost.</a:t>
            </a:r>
          </a:p>
          <a:p>
            <a:pPr>
              <a:lnSpc>
                <a:spcPct val="112000"/>
              </a:lnSpc>
              <a:spcBef>
                <a:spcPts val="0"/>
              </a:spcBef>
              <a:spcAft>
                <a:spcPts val="1200"/>
              </a:spcAft>
            </a:pPr>
            <a:r>
              <a:rPr sz="2500" b="0">
                <a:solidFill>
                  <a:srgbClr val="202428"/>
                </a:solidFill>
                <a:latin typeface="Liberation Sans"/>
              </a:rPr>
              <a:t>4. Preserve provenance and report the limits of each experiment.</a:t>
            </a:r>
          </a:p>
        </p:txBody>
      </p:sp>
      <p:sp>
        <p:nvSpPr>
          <p:cNvPr id="9" name="Rectangle 8"/>
          <p:cNvSpPr/>
          <p:nvPr/>
        </p:nvSpPr>
        <p:spPr>
          <a:xfrm>
            <a:off x="548640" y="5321808"/>
            <a:ext cx="11064240" cy="713232"/>
          </a:xfrm>
          <a:prstGeom prst="rect">
            <a:avLst/>
          </a:prstGeom>
          <a:solidFill>
            <a:srgbClr val="ED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431536"/>
            <a:ext cx="10698480" cy="521207"/>
          </a:xfrm>
          <a:prstGeom prst="rect">
            <a:avLst/>
          </a:prstGeom>
          <a:noFill/>
        </p:spPr>
        <p:txBody>
          <a:bodyPr wrap="square" lIns="22860" rIns="22860" tIns="22860" bIns="22860">
            <a:spAutoFit/>
          </a:bodyPr>
          <a:lstStyle/>
          <a:p>
            <a:pPr>
              <a:lnSpc>
                <a:spcPct val="112000"/>
              </a:lnSpc>
              <a:spcBef>
                <a:spcPts val="0"/>
              </a:spcBef>
              <a:spcAft>
                <a:spcPts val="1200"/>
              </a:spcAft>
            </a:pPr>
            <a:r>
              <a:rPr sz="2200" b="1">
                <a:solidFill>
                  <a:srgbClr val="315F82"/>
                </a:solidFill>
                <a:latin typeface="Liberation Sans"/>
              </a:rPr>
              <a:t>KVSalienceBench makes these evaluation choices inspectable.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